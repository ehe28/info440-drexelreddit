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1675"/>
  <p:notesSz cx="6858000" cy="9144000"/>
  <p:embeddedFontLst>
    <p:embeddedFont>
      <p:font typeface="Play"/>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Play-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Nitya</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84f7c90b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Nitya</a:t>
            </a:r>
            <a:endParaRPr/>
          </a:p>
        </p:txBody>
      </p:sp>
      <p:sp>
        <p:nvSpPr>
          <p:cNvPr id="100" name="Google Shape;100;g3f84f7c90b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Lizzie</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Nihar</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Nihar</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Nihar</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Isabel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a:t>
            </a:r>
            <a:r>
              <a:rPr lang="en-US"/>
              <a:t>topic</a:t>
            </a:r>
            <a:r>
              <a:rPr lang="en-US"/>
              <a:t> modeling, we used LDA. Before we ran the model we had to clean and prepare the text by stripping out Reddit-specific noise, such as URLs and markdown formatting, </a:t>
            </a:r>
            <a:r>
              <a:rPr lang="en-US"/>
              <a:t>tokenizing</a:t>
            </a:r>
            <a:r>
              <a:rPr lang="en-US"/>
              <a:t> and lemmatizing the words and removing standard stopwords and a custom list of words specific to our corpus. Things like “Drexel” </a:t>
            </a:r>
            <a:r>
              <a:rPr lang="en-US"/>
              <a:t>itself, which showed up in nearly every post and added no distinguishing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then tested the model across a range of topic counts, from 2 up to 25, and evaluated each using a coherence score, which measures how semantically related the top words in each topic are to each other. The coherence scores ended up fairly flat across the lower range, so rather than picking purely based on that number, we manually reviewed the resulting topics at each level and chose the topic count that produced the clearest, most distinct, and most interpretable set of themes — which ended up being 7."</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final model surfaced seven clear topics: campus life and student activities, co-op and career, admissions and financial aid, off-campus housing, academics and coursework, a marketplace category for buying and selling items, and a cluster around emails and technical or administrative 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stood out to us is that the two largest, most distinct topics were housing and co-op/career — which makes sense given Drexel's identity as a co-op-heavy university. We also didn't expect the marketplace topic to emerge as its own separate theme, but it clearly reflects a real, organic use of the subreddit by students.</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Katie</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84d99532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Katie</a:t>
            </a:r>
            <a:endParaRPr/>
          </a:p>
        </p:txBody>
      </p:sp>
      <p:sp>
        <p:nvSpPr>
          <p:cNvPr id="211" name="Google Shape;211;g3f84d995324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84d995324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Katie</a:t>
            </a:r>
            <a:endParaRPr/>
          </a:p>
        </p:txBody>
      </p:sp>
      <p:sp>
        <p:nvSpPr>
          <p:cNvPr id="226" name="Google Shape;226;g3f84d995324_2_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84f7c90b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Katie</a:t>
            </a:r>
            <a:endParaRPr/>
          </a:p>
        </p:txBody>
      </p:sp>
      <p:sp>
        <p:nvSpPr>
          <p:cNvPr id="236" name="Google Shape;236;g3f84f7c90b9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Lizzie</a:t>
            </a:r>
            <a:endParaRPr/>
          </a:p>
        </p:txBody>
      </p:sp>
      <p:sp>
        <p:nvSpPr>
          <p:cNvPr id="245" name="Google Shape;24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4f7c90b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Lizzie</a:t>
            </a:r>
            <a:endParaRPr/>
          </a:p>
        </p:txBody>
      </p:sp>
      <p:sp>
        <p:nvSpPr>
          <p:cNvPr id="254" name="Google Shape;254;g3f84f7c90b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2191695" cy="6858000"/>
          </a:xfrm>
          <a:prstGeom prst="rect">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0" y="0"/>
            <a:ext cx="164592" cy="6858000"/>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822960" y="1417320"/>
            <a:ext cx="10424100" cy="1000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FFFFFF"/>
                </a:solidFill>
              </a:rPr>
              <a:t>Sentiment Analysis on r/Drexel</a:t>
            </a:r>
            <a:endParaRPr/>
          </a:p>
          <a:p>
            <a:pPr indent="0" lvl="0" marL="0" marR="0" rtl="0" algn="l">
              <a:spcBef>
                <a:spcPts val="600"/>
              </a:spcBef>
              <a:spcAft>
                <a:spcPts val="0"/>
              </a:spcAft>
              <a:buNone/>
            </a:pPr>
            <a:r>
              <a:rPr b="0" i="0" lang="en-US" sz="2000" u="none" cap="none" strike="noStrike">
                <a:solidFill>
                  <a:srgbClr val="D9E3EA"/>
                </a:solidFill>
                <a:latin typeface="Arial"/>
                <a:ea typeface="Arial"/>
                <a:cs typeface="Arial"/>
                <a:sym typeface="Arial"/>
              </a:rPr>
              <a:t>What students discuss </a:t>
            </a:r>
            <a:r>
              <a:rPr lang="en-US" sz="2000">
                <a:solidFill>
                  <a:srgbClr val="D9E3EA"/>
                </a:solidFill>
              </a:rPr>
              <a:t>and</a:t>
            </a:r>
            <a:r>
              <a:rPr b="0" i="0" lang="en-US" sz="2000" u="none" cap="none" strike="noStrike">
                <a:solidFill>
                  <a:srgbClr val="D9E3EA"/>
                </a:solidFill>
                <a:latin typeface="Arial"/>
                <a:ea typeface="Arial"/>
                <a:cs typeface="Arial"/>
                <a:sym typeface="Arial"/>
              </a:rPr>
              <a:t> and how they feel</a:t>
            </a:r>
            <a:endParaRPr/>
          </a:p>
        </p:txBody>
      </p:sp>
      <p:sp>
        <p:nvSpPr>
          <p:cNvPr id="87" name="Google Shape;87;p13"/>
          <p:cNvSpPr txBox="1"/>
          <p:nvPr/>
        </p:nvSpPr>
        <p:spPr>
          <a:xfrm>
            <a:off x="841248" y="4206240"/>
            <a:ext cx="10515600" cy="723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100" u="none" cap="none" strike="noStrike">
                <a:solidFill>
                  <a:srgbClr val="FFC600"/>
                </a:solidFill>
                <a:latin typeface="Arial"/>
                <a:ea typeface="Arial"/>
                <a:cs typeface="Arial"/>
                <a:sym typeface="Arial"/>
              </a:rPr>
              <a:t>Group 7</a:t>
            </a:r>
            <a:endParaRPr sz="2100"/>
          </a:p>
          <a:p>
            <a:pPr indent="0" lvl="0" marL="0" marR="0" rtl="0" algn="l">
              <a:spcBef>
                <a:spcPts val="0"/>
              </a:spcBef>
              <a:spcAft>
                <a:spcPts val="0"/>
              </a:spcAft>
              <a:buNone/>
            </a:pPr>
            <a:r>
              <a:rPr b="0" i="0" lang="en-US" sz="2000" u="none" cap="none" strike="noStrike">
                <a:solidFill>
                  <a:srgbClr val="FFFFFF"/>
                </a:solidFill>
                <a:latin typeface="Arial"/>
                <a:ea typeface="Arial"/>
                <a:cs typeface="Arial"/>
                <a:sym typeface="Arial"/>
              </a:rPr>
              <a:t>Elizabeth E</a:t>
            </a:r>
            <a:r>
              <a:rPr lang="en-US" sz="2000">
                <a:solidFill>
                  <a:srgbClr val="FFFFFF"/>
                </a:solidFill>
              </a:rPr>
              <a:t>vans, I</a:t>
            </a:r>
            <a:r>
              <a:rPr b="0" i="0" lang="en-US" sz="2000" u="none" cap="none" strike="noStrike">
                <a:solidFill>
                  <a:srgbClr val="FFFFFF"/>
                </a:solidFill>
                <a:latin typeface="Arial"/>
                <a:ea typeface="Arial"/>
                <a:cs typeface="Arial"/>
                <a:sym typeface="Arial"/>
              </a:rPr>
              <a:t>sabel Enriquez</a:t>
            </a:r>
            <a:r>
              <a:rPr lang="en-US" sz="2000">
                <a:solidFill>
                  <a:srgbClr val="FFFFFF"/>
                </a:solidFill>
              </a:rPr>
              <a:t>, </a:t>
            </a:r>
            <a:r>
              <a:rPr b="0" i="0" lang="en-US" sz="2000" u="none" cap="none" strike="noStrike">
                <a:solidFill>
                  <a:srgbClr val="FFFFFF"/>
                </a:solidFill>
                <a:latin typeface="Arial"/>
                <a:ea typeface="Arial"/>
                <a:cs typeface="Arial"/>
                <a:sym typeface="Arial"/>
              </a:rPr>
              <a:t>Katherine Wolfe</a:t>
            </a:r>
            <a:r>
              <a:rPr lang="en-US" sz="2000">
                <a:solidFill>
                  <a:srgbClr val="FFFFFF"/>
                </a:solidFill>
              </a:rPr>
              <a:t>,</a:t>
            </a:r>
            <a:r>
              <a:rPr b="0" i="0" lang="en-US" sz="2000" u="none" cap="none" strike="noStrike">
                <a:solidFill>
                  <a:srgbClr val="FFFFFF"/>
                </a:solidFill>
                <a:latin typeface="Arial"/>
                <a:ea typeface="Arial"/>
                <a:cs typeface="Arial"/>
                <a:sym typeface="Arial"/>
              </a:rPr>
              <a:t> Nihar Shah</a:t>
            </a:r>
            <a:r>
              <a:rPr lang="en-US" sz="2000">
                <a:solidFill>
                  <a:srgbClr val="FFFFFF"/>
                </a:solidFill>
              </a:rPr>
              <a:t>, </a:t>
            </a:r>
            <a:r>
              <a:rPr b="0" i="0" lang="en-US" sz="2000" u="none" cap="none" strike="noStrike">
                <a:solidFill>
                  <a:srgbClr val="FFFFFF"/>
                </a:solidFill>
                <a:latin typeface="Arial"/>
                <a:ea typeface="Arial"/>
                <a:cs typeface="Arial"/>
                <a:sym typeface="Arial"/>
              </a:rPr>
              <a:t>Nitya Patel</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p:nvPr/>
        </p:nvSpPr>
        <p:spPr>
          <a:xfrm>
            <a:off x="0" y="0"/>
            <a:ext cx="121917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93" name="Google Shape;93;p14"/>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Our Research Question</a:t>
            </a:r>
            <a:endParaRPr/>
          </a:p>
        </p:txBody>
      </p:sp>
      <p:sp>
        <p:nvSpPr>
          <p:cNvPr id="94" name="Google Shape;94;p14"/>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95" name="Google Shape;95;p14"/>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8929A"/>
                </a:solidFill>
              </a:rPr>
              <a:t>2</a:t>
            </a:r>
            <a:endParaRPr/>
          </a:p>
        </p:txBody>
      </p:sp>
      <p:sp>
        <p:nvSpPr>
          <p:cNvPr id="96" name="Google Shape;96;p14"/>
          <p:cNvSpPr txBox="1"/>
          <p:nvPr/>
        </p:nvSpPr>
        <p:spPr>
          <a:xfrm>
            <a:off x="914400" y="1554480"/>
            <a:ext cx="102414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072B4C"/>
                </a:solidFill>
              </a:rPr>
              <a:t>What are students talking about on r/Drexel, and how do they feel about those topics?</a:t>
            </a:r>
            <a:endParaRPr/>
          </a:p>
        </p:txBody>
      </p:sp>
      <p:sp>
        <p:nvSpPr>
          <p:cNvPr id="97" name="Google Shape;97;p14"/>
          <p:cNvSpPr txBox="1"/>
          <p:nvPr/>
        </p:nvSpPr>
        <p:spPr>
          <a:xfrm>
            <a:off x="1032024" y="2998288"/>
            <a:ext cx="10188900" cy="15198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i="0" lang="en-US" sz="2400" u="none" cap="none" strike="noStrike">
                <a:solidFill>
                  <a:srgbClr val="222A31"/>
                </a:solidFill>
              </a:rPr>
              <a:t>• Reddit captures candid, real-time student discussion</a:t>
            </a:r>
            <a:endParaRPr sz="2400"/>
          </a:p>
          <a:p>
            <a:pPr indent="0" lvl="0" marL="0" marR="0" rtl="0" algn="l">
              <a:lnSpc>
                <a:spcPct val="105000"/>
              </a:lnSpc>
              <a:spcBef>
                <a:spcPts val="1100"/>
              </a:spcBef>
              <a:spcAft>
                <a:spcPts val="0"/>
              </a:spcAft>
              <a:buNone/>
            </a:pPr>
            <a:r>
              <a:rPr i="0" lang="en-US" sz="2400" u="none" cap="none" strike="noStrike">
                <a:solidFill>
                  <a:srgbClr val="222A31"/>
                </a:solidFill>
              </a:rPr>
              <a:t>• The data is too large and unstructured to read manually</a:t>
            </a:r>
            <a:endParaRPr sz="2400"/>
          </a:p>
          <a:p>
            <a:pPr indent="0" lvl="0" marL="0" marR="0" rtl="0" algn="l">
              <a:lnSpc>
                <a:spcPct val="105000"/>
              </a:lnSpc>
              <a:spcBef>
                <a:spcPts val="1100"/>
              </a:spcBef>
              <a:spcAft>
                <a:spcPts val="0"/>
              </a:spcAft>
              <a:buNone/>
            </a:pPr>
            <a:r>
              <a:rPr i="0" lang="en-US" sz="2400" u="none" cap="none" strike="noStrike">
                <a:solidFill>
                  <a:srgbClr val="222A31"/>
                </a:solidFill>
              </a:rPr>
              <a:t>• Topic modeling + sentiment analysis turn posts into usable patterns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p:nvPr/>
        </p:nvSpPr>
        <p:spPr>
          <a:xfrm>
            <a:off x="0" y="0"/>
            <a:ext cx="12191700" cy="685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03" name="Google Shape;103;p15"/>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072B4C"/>
                </a:solidFill>
              </a:rPr>
              <a:t>Stakeholders</a:t>
            </a:r>
            <a:endParaRPr/>
          </a:p>
        </p:txBody>
      </p:sp>
      <p:sp>
        <p:nvSpPr>
          <p:cNvPr id="104" name="Google Shape;104;p15"/>
          <p:cNvSpPr/>
          <p:nvPr/>
        </p:nvSpPr>
        <p:spPr>
          <a:xfrm>
            <a:off x="640080" y="987552"/>
            <a:ext cx="914400" cy="54900"/>
          </a:xfrm>
          <a:prstGeom prst="rect">
            <a:avLst/>
          </a:prstGeom>
          <a:solidFill>
            <a:srgbClr val="FFC6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05" name="Google Shape;105;p15"/>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8929A"/>
                </a:solidFill>
              </a:rPr>
              <a:t>2</a:t>
            </a:r>
            <a:endParaRPr/>
          </a:p>
        </p:txBody>
      </p:sp>
      <p:sp>
        <p:nvSpPr>
          <p:cNvPr id="106" name="Google Shape;106;p15"/>
          <p:cNvSpPr txBox="1"/>
          <p:nvPr/>
        </p:nvSpPr>
        <p:spPr>
          <a:xfrm>
            <a:off x="914400" y="1554480"/>
            <a:ext cx="10241400" cy="507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700">
                <a:solidFill>
                  <a:srgbClr val="072B4C"/>
                </a:solidFill>
              </a:rPr>
              <a:t>Who will benefit from this analysis?</a:t>
            </a:r>
            <a:endParaRPr/>
          </a:p>
        </p:txBody>
      </p:sp>
      <p:sp>
        <p:nvSpPr>
          <p:cNvPr id="107" name="Google Shape;107;p15"/>
          <p:cNvSpPr txBox="1"/>
          <p:nvPr/>
        </p:nvSpPr>
        <p:spPr>
          <a:xfrm>
            <a:off x="640075" y="2281209"/>
            <a:ext cx="10188900" cy="38469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1" i="0" lang="en-US" sz="2400" u="none" cap="none" strike="noStrike">
                <a:solidFill>
                  <a:srgbClr val="222A31"/>
                </a:solidFill>
              </a:rPr>
              <a:t>• </a:t>
            </a:r>
            <a:r>
              <a:rPr b="1" lang="en-US" sz="2400">
                <a:solidFill>
                  <a:srgbClr val="222A31"/>
                </a:solidFill>
              </a:rPr>
              <a:t>Drexel Administration: </a:t>
            </a:r>
            <a:br>
              <a:rPr lang="en-US" sz="2400">
                <a:solidFill>
                  <a:srgbClr val="222A31"/>
                </a:solidFill>
              </a:rPr>
            </a:br>
            <a:r>
              <a:rPr lang="en-US" sz="2400">
                <a:solidFill>
                  <a:srgbClr val="222A31"/>
                </a:solidFill>
              </a:rPr>
              <a:t>Since students do not fill out official surveys, allows administration to identify issues and get unfiltered feedback.</a:t>
            </a:r>
            <a:endParaRPr sz="2400"/>
          </a:p>
          <a:p>
            <a:pPr indent="0" lvl="0" marL="0" marR="0" rtl="0" algn="l">
              <a:lnSpc>
                <a:spcPct val="105000"/>
              </a:lnSpc>
              <a:spcBef>
                <a:spcPts val="1100"/>
              </a:spcBef>
              <a:spcAft>
                <a:spcPts val="0"/>
              </a:spcAft>
              <a:buNone/>
            </a:pPr>
            <a:r>
              <a:rPr b="1" i="0" lang="en-US" sz="2400" u="none" cap="none" strike="noStrike">
                <a:solidFill>
                  <a:srgbClr val="222A31"/>
                </a:solidFill>
              </a:rPr>
              <a:t>• </a:t>
            </a:r>
            <a:r>
              <a:rPr b="1" lang="en-US" sz="2400">
                <a:solidFill>
                  <a:srgbClr val="222A31"/>
                </a:solidFill>
              </a:rPr>
              <a:t>Prospective Students: </a:t>
            </a:r>
            <a:br>
              <a:rPr lang="en-US" sz="2400">
                <a:solidFill>
                  <a:srgbClr val="222A31"/>
                </a:solidFill>
              </a:rPr>
            </a:br>
            <a:r>
              <a:rPr lang="en-US" sz="2400">
                <a:solidFill>
                  <a:srgbClr val="222A31"/>
                </a:solidFill>
              </a:rPr>
              <a:t>Make an objective decision by identifying good and bad things about the </a:t>
            </a:r>
            <a:r>
              <a:rPr lang="en-US" sz="2400">
                <a:solidFill>
                  <a:srgbClr val="222A31"/>
                </a:solidFill>
              </a:rPr>
              <a:t>university. </a:t>
            </a:r>
            <a:endParaRPr sz="2400"/>
          </a:p>
          <a:p>
            <a:pPr indent="0" lvl="0" marL="0" marR="0" rtl="0" algn="l">
              <a:lnSpc>
                <a:spcPct val="105000"/>
              </a:lnSpc>
              <a:spcBef>
                <a:spcPts val="1100"/>
              </a:spcBef>
              <a:spcAft>
                <a:spcPts val="0"/>
              </a:spcAft>
              <a:buNone/>
            </a:pPr>
            <a:r>
              <a:rPr b="1" i="0" lang="en-US" sz="2400" u="none" cap="none" strike="noStrike">
                <a:solidFill>
                  <a:srgbClr val="222A31"/>
                </a:solidFill>
              </a:rPr>
              <a:t>• </a:t>
            </a:r>
            <a:r>
              <a:rPr b="1" lang="en-US" sz="2400">
                <a:solidFill>
                  <a:srgbClr val="222A31"/>
                </a:solidFill>
              </a:rPr>
              <a:t>Current Students:</a:t>
            </a:r>
            <a:br>
              <a:rPr lang="en-US" sz="2400">
                <a:solidFill>
                  <a:srgbClr val="222A31"/>
                </a:solidFill>
              </a:rPr>
            </a:br>
            <a:r>
              <a:rPr lang="en-US" sz="2400">
                <a:solidFill>
                  <a:srgbClr val="222A31"/>
                </a:solidFill>
              </a:rPr>
              <a:t>Get answers to questions and understand if they are the only ones struggling with something or if it is a shared experience.</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13" name="Google Shape;113;p16"/>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The Dataset</a:t>
            </a:r>
            <a:endParaRPr/>
          </a:p>
        </p:txBody>
      </p:sp>
      <p:sp>
        <p:nvSpPr>
          <p:cNvPr id="114" name="Google Shape;114;p16"/>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15" name="Google Shape;115;p16"/>
          <p:cNvSpPr txBox="1"/>
          <p:nvPr/>
        </p:nvSpPr>
        <p:spPr>
          <a:xfrm>
            <a:off x="1691640" y="896112"/>
            <a:ext cx="9784200" cy="26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50" u="none" cap="none" strike="noStrike">
                <a:solidFill>
                  <a:srgbClr val="5E6973"/>
                </a:solidFill>
              </a:rPr>
              <a:t>r/Drexel posts from subreddit creation through July 1, 2026</a:t>
            </a:r>
            <a:endParaRPr/>
          </a:p>
        </p:txBody>
      </p:sp>
      <p:sp>
        <p:nvSpPr>
          <p:cNvPr id="116" name="Google Shape;116;p16"/>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8929A"/>
                </a:solidFill>
              </a:rPr>
              <a:t>3</a:t>
            </a:r>
            <a:endParaRPr/>
          </a:p>
        </p:txBody>
      </p:sp>
      <p:sp>
        <p:nvSpPr>
          <p:cNvPr id="117" name="Google Shape;117;p16"/>
          <p:cNvSpPr/>
          <p:nvPr/>
        </p:nvSpPr>
        <p:spPr>
          <a:xfrm>
            <a:off x="777240" y="1554480"/>
            <a:ext cx="3246120" cy="141732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18" name="Google Shape;118;p16"/>
          <p:cNvSpPr txBox="1"/>
          <p:nvPr/>
        </p:nvSpPr>
        <p:spPr>
          <a:xfrm>
            <a:off x="914375" y="1909127"/>
            <a:ext cx="2971800" cy="708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072B4C"/>
                </a:solidFill>
              </a:rPr>
              <a:t>32,053</a:t>
            </a:r>
            <a:endParaRPr/>
          </a:p>
          <a:p>
            <a:pPr indent="0" lvl="0" marL="0" marR="0" rtl="0" algn="ctr">
              <a:spcBef>
                <a:spcPts val="0"/>
              </a:spcBef>
              <a:spcAft>
                <a:spcPts val="0"/>
              </a:spcAft>
              <a:buNone/>
            </a:pPr>
            <a:r>
              <a:rPr i="0" lang="en-US" sz="1200" u="none" cap="none" strike="noStrike">
                <a:solidFill>
                  <a:srgbClr val="5E6973"/>
                </a:solidFill>
              </a:rPr>
              <a:t>raw posts collected</a:t>
            </a:r>
            <a:endParaRPr/>
          </a:p>
        </p:txBody>
      </p:sp>
      <p:sp>
        <p:nvSpPr>
          <p:cNvPr id="119" name="Google Shape;119;p16"/>
          <p:cNvSpPr/>
          <p:nvPr/>
        </p:nvSpPr>
        <p:spPr>
          <a:xfrm>
            <a:off x="4480560" y="1554480"/>
            <a:ext cx="3246120" cy="141732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20" name="Google Shape;120;p16"/>
          <p:cNvSpPr txBox="1"/>
          <p:nvPr/>
        </p:nvSpPr>
        <p:spPr>
          <a:xfrm>
            <a:off x="4617708" y="1909114"/>
            <a:ext cx="2971800" cy="708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072B4C"/>
                </a:solidFill>
              </a:rPr>
              <a:t>22,132</a:t>
            </a:r>
            <a:endParaRPr/>
          </a:p>
          <a:p>
            <a:pPr indent="0" lvl="0" marL="0" marR="0" rtl="0" algn="ctr">
              <a:spcBef>
                <a:spcPts val="0"/>
              </a:spcBef>
              <a:spcAft>
                <a:spcPts val="0"/>
              </a:spcAft>
              <a:buNone/>
            </a:pPr>
            <a:r>
              <a:rPr i="0" lang="en-US" sz="1200" u="none" cap="none" strike="noStrike">
                <a:solidFill>
                  <a:srgbClr val="5E6973"/>
                </a:solidFill>
              </a:rPr>
              <a:t>posts after filtering</a:t>
            </a:r>
            <a:endParaRPr/>
          </a:p>
        </p:txBody>
      </p:sp>
      <p:sp>
        <p:nvSpPr>
          <p:cNvPr id="121" name="Google Shape;121;p16"/>
          <p:cNvSpPr/>
          <p:nvPr/>
        </p:nvSpPr>
        <p:spPr>
          <a:xfrm>
            <a:off x="8183879" y="1554480"/>
            <a:ext cx="3246120" cy="141732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22" name="Google Shape;122;p16"/>
          <p:cNvSpPr txBox="1"/>
          <p:nvPr/>
        </p:nvSpPr>
        <p:spPr>
          <a:xfrm>
            <a:off x="8321040" y="1909114"/>
            <a:ext cx="2971800" cy="708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072B4C"/>
                </a:solidFill>
              </a:rPr>
              <a:t>8,983</a:t>
            </a:r>
            <a:endParaRPr/>
          </a:p>
          <a:p>
            <a:pPr indent="0" lvl="0" marL="0" marR="0" rtl="0" algn="ctr">
              <a:spcBef>
                <a:spcPts val="0"/>
              </a:spcBef>
              <a:spcAft>
                <a:spcPts val="0"/>
              </a:spcAft>
              <a:buNone/>
            </a:pPr>
            <a:r>
              <a:rPr i="0" lang="en-US" sz="1200" u="none" cap="none" strike="noStrike">
                <a:solidFill>
                  <a:srgbClr val="5E6973"/>
                </a:solidFill>
              </a:rPr>
              <a:t>unique authors</a:t>
            </a:r>
            <a:endParaRPr/>
          </a:p>
        </p:txBody>
      </p:sp>
      <p:sp>
        <p:nvSpPr>
          <p:cNvPr id="123" name="Google Shape;123;p16"/>
          <p:cNvSpPr txBox="1"/>
          <p:nvPr/>
        </p:nvSpPr>
        <p:spPr>
          <a:xfrm>
            <a:off x="1143000" y="3703320"/>
            <a:ext cx="9875400" cy="13287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i="0" lang="en-US" sz="2000" u="none" cap="none" strike="noStrike">
                <a:solidFill>
                  <a:schemeClr val="dk1"/>
                </a:solidFill>
              </a:rPr>
              <a:t>• Removed deleted/removed posts and kept id, author, date, title, and selftext</a:t>
            </a:r>
            <a:endParaRPr sz="1700">
              <a:solidFill>
                <a:schemeClr val="dk1"/>
              </a:solidFill>
            </a:endParaRPr>
          </a:p>
          <a:p>
            <a:pPr indent="0" lvl="0" marL="0" marR="0" rtl="0" algn="l">
              <a:lnSpc>
                <a:spcPct val="105000"/>
              </a:lnSpc>
              <a:spcBef>
                <a:spcPts val="1100"/>
              </a:spcBef>
              <a:spcAft>
                <a:spcPts val="0"/>
              </a:spcAft>
              <a:buNone/>
            </a:pPr>
            <a:r>
              <a:rPr i="0" lang="en-US" sz="2000" u="none" cap="none" strike="noStrike">
                <a:solidFill>
                  <a:schemeClr val="dk1"/>
                </a:solidFill>
              </a:rPr>
              <a:t>• 5,526 authors posted only once</a:t>
            </a:r>
            <a:endParaRPr sz="1700">
              <a:solidFill>
                <a:schemeClr val="dk1"/>
              </a:solidFill>
            </a:endParaRPr>
          </a:p>
          <a:p>
            <a:pPr indent="0" lvl="0" marL="0" marR="0" rtl="0" algn="l">
              <a:lnSpc>
                <a:spcPct val="105000"/>
              </a:lnSpc>
              <a:spcBef>
                <a:spcPts val="1100"/>
              </a:spcBef>
              <a:spcAft>
                <a:spcPts val="0"/>
              </a:spcAft>
              <a:buNone/>
            </a:pPr>
            <a:r>
              <a:rPr i="0" lang="en-US" sz="2000" u="none" cap="none" strike="noStrike">
                <a:solidFill>
                  <a:schemeClr val="dk1"/>
                </a:solidFill>
              </a:rPr>
              <a:t>• Top 1% of authors produced 12.45% of posts</a:t>
            </a:r>
            <a:endParaRPr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7"/>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Posting Activity Grew Over Time</a:t>
            </a:r>
            <a:endParaRPr/>
          </a:p>
        </p:txBody>
      </p:sp>
      <p:sp>
        <p:nvSpPr>
          <p:cNvPr id="130" name="Google Shape;130;p17"/>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10698480" y="6473952"/>
            <a:ext cx="82296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4</a:t>
            </a:r>
            <a:endParaRPr/>
          </a:p>
        </p:txBody>
      </p:sp>
      <p:pic>
        <p:nvPicPr>
          <p:cNvPr descr="cell_9.png" id="132" name="Google Shape;132;p17"/>
          <p:cNvPicPr preferRelativeResize="0"/>
          <p:nvPr/>
        </p:nvPicPr>
        <p:blipFill rotWithShape="1">
          <a:blip r:embed="rId3">
            <a:alphaModFix/>
          </a:blip>
          <a:srcRect b="0" l="0" r="0" t="0"/>
          <a:stretch/>
        </p:blipFill>
        <p:spPr>
          <a:xfrm>
            <a:off x="731520" y="1325880"/>
            <a:ext cx="6492240" cy="5328114"/>
          </a:xfrm>
          <a:prstGeom prst="rect">
            <a:avLst/>
          </a:prstGeom>
          <a:noFill/>
          <a:ln>
            <a:noFill/>
          </a:ln>
        </p:spPr>
      </p:pic>
      <p:sp>
        <p:nvSpPr>
          <p:cNvPr id="133" name="Google Shape;133;p17"/>
          <p:cNvSpPr txBox="1"/>
          <p:nvPr/>
        </p:nvSpPr>
        <p:spPr>
          <a:xfrm>
            <a:off x="7635240" y="1828800"/>
            <a:ext cx="3794700" cy="22023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i="0" lang="en-US" sz="1900" u="none" cap="none" strike="noStrike">
                <a:solidFill>
                  <a:srgbClr val="222A31"/>
                </a:solidFill>
              </a:rPr>
              <a:t>• Posting generally increased over the life of the subreddit</a:t>
            </a:r>
            <a:endParaRPr sz="1700"/>
          </a:p>
          <a:p>
            <a:pPr indent="0" lvl="0" marL="0" marR="0" rtl="0" algn="l">
              <a:lnSpc>
                <a:spcPct val="105000"/>
              </a:lnSpc>
              <a:spcBef>
                <a:spcPts val="1100"/>
              </a:spcBef>
              <a:spcAft>
                <a:spcPts val="0"/>
              </a:spcAft>
              <a:buNone/>
            </a:pPr>
            <a:r>
              <a:rPr i="0" lang="en-US" sz="1900" u="none" cap="none" strike="noStrike">
                <a:solidFill>
                  <a:srgbClr val="222A31"/>
                </a:solidFill>
              </a:rPr>
              <a:t>• 202</a:t>
            </a:r>
            <a:r>
              <a:rPr lang="en-US" sz="1900">
                <a:solidFill>
                  <a:srgbClr val="222A31"/>
                </a:solidFill>
              </a:rPr>
              <a:t>4</a:t>
            </a:r>
            <a:r>
              <a:rPr i="0" lang="en-US" sz="1900" u="none" cap="none" strike="noStrike">
                <a:solidFill>
                  <a:srgbClr val="222A31"/>
                </a:solidFill>
              </a:rPr>
              <a:t> was the highest-volume year in the notebook</a:t>
            </a:r>
            <a:endParaRPr sz="1700"/>
          </a:p>
          <a:p>
            <a:pPr indent="0" lvl="0" marL="0" marR="0" rtl="0" algn="l">
              <a:lnSpc>
                <a:spcPct val="105000"/>
              </a:lnSpc>
              <a:spcBef>
                <a:spcPts val="1100"/>
              </a:spcBef>
              <a:spcAft>
                <a:spcPts val="0"/>
              </a:spcAft>
              <a:buNone/>
            </a:pPr>
            <a:r>
              <a:rPr i="0" lang="en-US" sz="1900" u="none" cap="none" strike="noStrike">
                <a:solidFill>
                  <a:srgbClr val="222A31"/>
                </a:solidFill>
              </a:rPr>
              <a:t>• 2026 is only a partial year through July 1</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8"/>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When Do Students Post?</a:t>
            </a:r>
            <a:endParaRPr/>
          </a:p>
        </p:txBody>
      </p:sp>
      <p:sp>
        <p:nvSpPr>
          <p:cNvPr id="140" name="Google Shape;140;p18"/>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8"/>
          <p:cNvSpPr txBox="1"/>
          <p:nvPr/>
        </p:nvSpPr>
        <p:spPr>
          <a:xfrm>
            <a:off x="10698480" y="6473952"/>
            <a:ext cx="82296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5</a:t>
            </a:r>
            <a:endParaRPr/>
          </a:p>
        </p:txBody>
      </p:sp>
      <p:pic>
        <p:nvPicPr>
          <p:cNvPr descr="cell_11.png" id="142" name="Google Shape;142;p18"/>
          <p:cNvPicPr preferRelativeResize="0"/>
          <p:nvPr/>
        </p:nvPicPr>
        <p:blipFill rotWithShape="1">
          <a:blip r:embed="rId3">
            <a:alphaModFix/>
          </a:blip>
          <a:srcRect b="0" l="0" r="0" t="0"/>
          <a:stretch/>
        </p:blipFill>
        <p:spPr>
          <a:xfrm>
            <a:off x="731520" y="1325880"/>
            <a:ext cx="6492240" cy="5126631"/>
          </a:xfrm>
          <a:prstGeom prst="rect">
            <a:avLst/>
          </a:prstGeom>
          <a:noFill/>
          <a:ln>
            <a:noFill/>
          </a:ln>
        </p:spPr>
      </p:pic>
      <p:sp>
        <p:nvSpPr>
          <p:cNvPr id="143" name="Google Shape;143;p18"/>
          <p:cNvSpPr txBox="1"/>
          <p:nvPr/>
        </p:nvSpPr>
        <p:spPr>
          <a:xfrm>
            <a:off x="7498079" y="1600200"/>
            <a:ext cx="3977700" cy="35112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0" i="0" lang="en-US" sz="1950" u="none" cap="none" strike="noStrike">
                <a:solidFill>
                  <a:srgbClr val="222A31"/>
                </a:solidFill>
                <a:latin typeface="Arial"/>
                <a:ea typeface="Arial"/>
                <a:cs typeface="Arial"/>
                <a:sym typeface="Arial"/>
              </a:rPr>
              <a:t>• Posting peaks appear in January, March, August, and September</a:t>
            </a:r>
            <a:endParaRPr sz="1800"/>
          </a:p>
          <a:p>
            <a:pPr indent="0" lvl="0" marL="0" marR="0" rtl="0" algn="l">
              <a:lnSpc>
                <a:spcPct val="105000"/>
              </a:lnSpc>
              <a:spcBef>
                <a:spcPts val="1100"/>
              </a:spcBef>
              <a:spcAft>
                <a:spcPts val="0"/>
              </a:spcAft>
              <a:buNone/>
            </a:pPr>
            <a:r>
              <a:rPr b="0" i="0" lang="en-US" sz="1950" u="none" cap="none" strike="noStrike">
                <a:solidFill>
                  <a:srgbClr val="222A31"/>
                </a:solidFill>
                <a:latin typeface="Arial"/>
                <a:ea typeface="Arial"/>
                <a:cs typeface="Arial"/>
                <a:sym typeface="Arial"/>
              </a:rPr>
              <a:t>• The group hypothesizes that some peaks may line up with co-op and academic decision periods</a:t>
            </a:r>
            <a:endParaRPr sz="1800"/>
          </a:p>
          <a:p>
            <a:pPr indent="0" lvl="0" marL="0" marR="0" rtl="0" algn="l">
              <a:lnSpc>
                <a:spcPct val="105000"/>
              </a:lnSpc>
              <a:spcBef>
                <a:spcPts val="1100"/>
              </a:spcBef>
              <a:spcAft>
                <a:spcPts val="0"/>
              </a:spcAft>
              <a:buNone/>
            </a:pPr>
            <a:r>
              <a:rPr b="0" i="0" lang="en-US" sz="1950" u="none" cap="none" strike="noStrike">
                <a:solidFill>
                  <a:srgbClr val="222A31"/>
                </a:solidFill>
                <a:latin typeface="Arial"/>
                <a:ea typeface="Arial"/>
                <a:cs typeface="Arial"/>
                <a:sym typeface="Arial"/>
              </a:rPr>
              <a:t>• Activity is also highest from roughly early afternoon through late evening</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0"/>
            <a:ext cx="121917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9"/>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What Are Students Talking About?</a:t>
            </a:r>
            <a:endParaRPr/>
          </a:p>
        </p:txBody>
      </p:sp>
      <p:sp>
        <p:nvSpPr>
          <p:cNvPr id="150" name="Google Shape;150;p19"/>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9"/>
          <p:cNvSpPr txBox="1"/>
          <p:nvPr/>
        </p:nvSpPr>
        <p:spPr>
          <a:xfrm>
            <a:off x="10698480" y="6473952"/>
            <a:ext cx="82296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6</a:t>
            </a:r>
            <a:endParaRPr/>
          </a:p>
        </p:txBody>
      </p:sp>
      <p:pic>
        <p:nvPicPr>
          <p:cNvPr descr="top_title_terms.png" id="152" name="Google Shape;152;p19"/>
          <p:cNvPicPr preferRelativeResize="0"/>
          <p:nvPr/>
        </p:nvPicPr>
        <p:blipFill rotWithShape="1">
          <a:blip r:embed="rId3">
            <a:alphaModFix/>
          </a:blip>
          <a:srcRect b="0" l="0" r="0" t="0"/>
          <a:stretch/>
        </p:blipFill>
        <p:spPr>
          <a:xfrm>
            <a:off x="297250" y="2223887"/>
            <a:ext cx="7228476" cy="3794724"/>
          </a:xfrm>
          <a:prstGeom prst="rect">
            <a:avLst/>
          </a:prstGeom>
          <a:noFill/>
          <a:ln>
            <a:noFill/>
          </a:ln>
        </p:spPr>
      </p:pic>
      <p:sp>
        <p:nvSpPr>
          <p:cNvPr id="153" name="Google Shape;153;p19"/>
          <p:cNvSpPr/>
          <p:nvPr/>
        </p:nvSpPr>
        <p:spPr>
          <a:xfrm>
            <a:off x="7818120" y="1645920"/>
            <a:ext cx="3474600" cy="14631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9"/>
          <p:cNvSpPr txBox="1"/>
          <p:nvPr/>
        </p:nvSpPr>
        <p:spPr>
          <a:xfrm>
            <a:off x="8001000" y="1874519"/>
            <a:ext cx="3108900" cy="892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072B4C"/>
                </a:solidFill>
              </a:rPr>
              <a:t>“Co-op”</a:t>
            </a:r>
            <a:endParaRPr/>
          </a:p>
          <a:p>
            <a:pPr indent="0" lvl="0" marL="0" marR="0" rtl="0" algn="ctr">
              <a:spcBef>
                <a:spcPts val="0"/>
              </a:spcBef>
              <a:spcAft>
                <a:spcPts val="0"/>
              </a:spcAft>
              <a:buNone/>
            </a:pPr>
            <a:r>
              <a:rPr b="0" i="0" lang="en-US" sz="1200" u="none" cap="none" strike="noStrike">
                <a:solidFill>
                  <a:srgbClr val="5E6973"/>
                </a:solidFill>
                <a:latin typeface="Arial"/>
                <a:ea typeface="Arial"/>
                <a:cs typeface="Arial"/>
                <a:sym typeface="Arial"/>
              </a:rPr>
              <a:t>most common meaningful word in both titles and post text</a:t>
            </a:r>
            <a:endParaRPr/>
          </a:p>
        </p:txBody>
      </p:sp>
      <p:sp>
        <p:nvSpPr>
          <p:cNvPr id="155" name="Google Shape;155;p19"/>
          <p:cNvSpPr txBox="1"/>
          <p:nvPr/>
        </p:nvSpPr>
        <p:spPr>
          <a:xfrm>
            <a:off x="7726679" y="3320850"/>
            <a:ext cx="3657600" cy="9273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0" i="0" lang="en-US" sz="1750" u="none" cap="none" strike="noStrike">
                <a:solidFill>
                  <a:srgbClr val="222A31"/>
                </a:solidFill>
                <a:latin typeface="Arial"/>
                <a:ea typeface="Arial"/>
                <a:cs typeface="Arial"/>
                <a:sym typeface="Arial"/>
              </a:rPr>
              <a:t>• Other repeated themes: classes, housing, campus, majors, programs, and engineering</a:t>
            </a:r>
            <a:endParaRPr sz="1600"/>
          </a:p>
        </p:txBody>
      </p:sp>
      <p:pic>
        <p:nvPicPr>
          <p:cNvPr id="156" name="Google Shape;156;p19"/>
          <p:cNvPicPr preferRelativeResize="0"/>
          <p:nvPr/>
        </p:nvPicPr>
        <p:blipFill>
          <a:blip r:embed="rId4">
            <a:alphaModFix/>
          </a:blip>
          <a:stretch>
            <a:fillRect/>
          </a:stretch>
        </p:blipFill>
        <p:spPr>
          <a:xfrm>
            <a:off x="7818102" y="4396875"/>
            <a:ext cx="4232950" cy="2259950"/>
          </a:xfrm>
          <a:prstGeom prst="rect">
            <a:avLst/>
          </a:prstGeom>
          <a:solidFill>
            <a:srgbClr val="FFFFFF"/>
          </a:solidFill>
          <a:ln>
            <a:noFill/>
          </a:ln>
          <a:effectLst>
            <a:outerShdw blurRad="40000" rotWithShape="0" dir="5400000" dist="23000">
              <a:srgbClr val="000000">
                <a:alpha val="349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62" name="Google Shape;162;p20"/>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Topic Modeling: 7 Recurring Themes</a:t>
            </a:r>
            <a:endParaRPr/>
          </a:p>
        </p:txBody>
      </p:sp>
      <p:sp>
        <p:nvSpPr>
          <p:cNvPr id="163" name="Google Shape;163;p20"/>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64" name="Google Shape;164;p20"/>
          <p:cNvSpPr txBox="1"/>
          <p:nvPr/>
        </p:nvSpPr>
        <p:spPr>
          <a:xfrm>
            <a:off x="1691640" y="896112"/>
            <a:ext cx="9784200" cy="26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150" u="none" cap="none" strike="noStrike">
                <a:solidFill>
                  <a:srgbClr val="5E6973"/>
                </a:solidFill>
              </a:rPr>
              <a:t>LDA with K = 7; final notebook coherence ≈ 0.554</a:t>
            </a:r>
            <a:endParaRPr/>
          </a:p>
        </p:txBody>
      </p:sp>
      <p:sp>
        <p:nvSpPr>
          <p:cNvPr id="165" name="Google Shape;165;p20"/>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900" u="none" cap="none" strike="noStrike">
                <a:solidFill>
                  <a:srgbClr val="88929A"/>
                </a:solidFill>
              </a:rPr>
              <a:t>7</a:t>
            </a:r>
            <a:endParaRPr/>
          </a:p>
        </p:txBody>
      </p:sp>
      <p:sp>
        <p:nvSpPr>
          <p:cNvPr id="166" name="Google Shape;166;p20"/>
          <p:cNvSpPr/>
          <p:nvPr/>
        </p:nvSpPr>
        <p:spPr>
          <a:xfrm>
            <a:off x="777240" y="132588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67" name="Google Shape;167;p20"/>
          <p:cNvSpPr/>
          <p:nvPr/>
        </p:nvSpPr>
        <p:spPr>
          <a:xfrm>
            <a:off x="941832" y="1545347"/>
            <a:ext cx="512100" cy="512100"/>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68" name="Google Shape;168;p20"/>
          <p:cNvSpPr txBox="1"/>
          <p:nvPr/>
        </p:nvSpPr>
        <p:spPr>
          <a:xfrm>
            <a:off x="941832" y="1647466"/>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1</a:t>
            </a:r>
            <a:endParaRPr/>
          </a:p>
        </p:txBody>
      </p:sp>
      <p:sp>
        <p:nvSpPr>
          <p:cNvPr id="169" name="Google Shape;169;p20"/>
          <p:cNvSpPr txBox="1"/>
          <p:nvPr/>
        </p:nvSpPr>
        <p:spPr>
          <a:xfrm>
            <a:off x="1600200" y="1444752"/>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Campus &amp; community</a:t>
            </a:r>
            <a:endParaRPr/>
          </a:p>
          <a:p>
            <a:pPr indent="0" lvl="0" marL="0" marR="0" rtl="0" algn="l">
              <a:spcBef>
                <a:spcPts val="0"/>
              </a:spcBef>
              <a:spcAft>
                <a:spcPts val="0"/>
              </a:spcAft>
              <a:buNone/>
            </a:pPr>
            <a:r>
              <a:rPr i="0" lang="en-US" sz="1100" u="none" cap="none" strike="noStrike">
                <a:solidFill>
                  <a:srgbClr val="5E6973"/>
                </a:solidFill>
              </a:rPr>
              <a:t>campus • club • food</a:t>
            </a:r>
            <a:endParaRPr/>
          </a:p>
        </p:txBody>
      </p:sp>
      <p:sp>
        <p:nvSpPr>
          <p:cNvPr id="170" name="Google Shape;170;p20"/>
          <p:cNvSpPr/>
          <p:nvPr/>
        </p:nvSpPr>
        <p:spPr>
          <a:xfrm>
            <a:off x="6355079" y="132588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71" name="Google Shape;171;p20"/>
          <p:cNvSpPr/>
          <p:nvPr/>
        </p:nvSpPr>
        <p:spPr>
          <a:xfrm>
            <a:off x="6519671" y="1470110"/>
            <a:ext cx="512100" cy="512100"/>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72" name="Google Shape;172;p20"/>
          <p:cNvSpPr txBox="1"/>
          <p:nvPr/>
        </p:nvSpPr>
        <p:spPr>
          <a:xfrm>
            <a:off x="6519650" y="1572236"/>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2</a:t>
            </a:r>
            <a:endParaRPr/>
          </a:p>
        </p:txBody>
      </p:sp>
      <p:sp>
        <p:nvSpPr>
          <p:cNvPr id="173" name="Google Shape;173;p20"/>
          <p:cNvSpPr txBox="1"/>
          <p:nvPr/>
        </p:nvSpPr>
        <p:spPr>
          <a:xfrm>
            <a:off x="7178040" y="1444752"/>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Co-op &amp; jobs</a:t>
            </a:r>
            <a:endParaRPr/>
          </a:p>
          <a:p>
            <a:pPr indent="0" lvl="0" marL="0" marR="0" rtl="0" algn="l">
              <a:spcBef>
                <a:spcPts val="0"/>
              </a:spcBef>
              <a:spcAft>
                <a:spcPts val="0"/>
              </a:spcAft>
              <a:buNone/>
            </a:pPr>
            <a:r>
              <a:rPr i="0" lang="en-US" sz="1100" u="none" cap="none" strike="noStrike">
                <a:solidFill>
                  <a:srgbClr val="5E6973"/>
                </a:solidFill>
              </a:rPr>
              <a:t>interview • job • coop</a:t>
            </a:r>
            <a:endParaRPr/>
          </a:p>
        </p:txBody>
      </p:sp>
      <p:sp>
        <p:nvSpPr>
          <p:cNvPr id="174" name="Google Shape;174;p20"/>
          <p:cNvSpPr/>
          <p:nvPr/>
        </p:nvSpPr>
        <p:spPr>
          <a:xfrm>
            <a:off x="777240" y="256032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75" name="Google Shape;175;p20"/>
          <p:cNvSpPr/>
          <p:nvPr/>
        </p:nvSpPr>
        <p:spPr>
          <a:xfrm>
            <a:off x="941832" y="2724912"/>
            <a:ext cx="512064" cy="512064"/>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76" name="Google Shape;176;p20"/>
          <p:cNvSpPr txBox="1"/>
          <p:nvPr/>
        </p:nvSpPr>
        <p:spPr>
          <a:xfrm>
            <a:off x="941813" y="2863610"/>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3</a:t>
            </a:r>
            <a:endParaRPr/>
          </a:p>
        </p:txBody>
      </p:sp>
      <p:sp>
        <p:nvSpPr>
          <p:cNvPr id="177" name="Google Shape;177;p20"/>
          <p:cNvSpPr txBox="1"/>
          <p:nvPr/>
        </p:nvSpPr>
        <p:spPr>
          <a:xfrm>
            <a:off x="1600200" y="2679191"/>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Programs &amp; aid</a:t>
            </a:r>
            <a:endParaRPr/>
          </a:p>
          <a:p>
            <a:pPr indent="0" lvl="0" marL="0" marR="0" rtl="0" algn="l">
              <a:spcBef>
                <a:spcPts val="0"/>
              </a:spcBef>
              <a:spcAft>
                <a:spcPts val="0"/>
              </a:spcAft>
              <a:buNone/>
            </a:pPr>
            <a:r>
              <a:rPr i="0" lang="en-US" sz="1100" u="none" cap="none" strike="noStrike">
                <a:solidFill>
                  <a:srgbClr val="5E6973"/>
                </a:solidFill>
              </a:rPr>
              <a:t>program • financial • transfer</a:t>
            </a:r>
            <a:endParaRPr/>
          </a:p>
        </p:txBody>
      </p:sp>
      <p:sp>
        <p:nvSpPr>
          <p:cNvPr id="178" name="Google Shape;178;p20"/>
          <p:cNvSpPr/>
          <p:nvPr/>
        </p:nvSpPr>
        <p:spPr>
          <a:xfrm>
            <a:off x="6355079" y="256032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79" name="Google Shape;179;p20"/>
          <p:cNvSpPr/>
          <p:nvPr/>
        </p:nvSpPr>
        <p:spPr>
          <a:xfrm>
            <a:off x="6519671" y="2761475"/>
            <a:ext cx="512100" cy="512100"/>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80" name="Google Shape;180;p20"/>
          <p:cNvSpPr txBox="1"/>
          <p:nvPr/>
        </p:nvSpPr>
        <p:spPr>
          <a:xfrm>
            <a:off x="6519671" y="2863619"/>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4</a:t>
            </a:r>
            <a:endParaRPr/>
          </a:p>
        </p:txBody>
      </p:sp>
      <p:sp>
        <p:nvSpPr>
          <p:cNvPr id="181" name="Google Shape;181;p20"/>
          <p:cNvSpPr txBox="1"/>
          <p:nvPr/>
        </p:nvSpPr>
        <p:spPr>
          <a:xfrm>
            <a:off x="7178040" y="2679191"/>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Housing</a:t>
            </a:r>
            <a:endParaRPr/>
          </a:p>
          <a:p>
            <a:pPr indent="0" lvl="0" marL="0" marR="0" rtl="0" algn="l">
              <a:spcBef>
                <a:spcPts val="0"/>
              </a:spcBef>
              <a:spcAft>
                <a:spcPts val="0"/>
              </a:spcAft>
              <a:buNone/>
            </a:pPr>
            <a:r>
              <a:rPr i="0" lang="en-US" sz="1100" u="none" cap="none" strike="noStrike">
                <a:solidFill>
                  <a:srgbClr val="5E6973"/>
                </a:solidFill>
              </a:rPr>
              <a:t>apartment • lease • roommate</a:t>
            </a:r>
            <a:endParaRPr/>
          </a:p>
        </p:txBody>
      </p:sp>
      <p:sp>
        <p:nvSpPr>
          <p:cNvPr id="182" name="Google Shape;182;p20"/>
          <p:cNvSpPr/>
          <p:nvPr/>
        </p:nvSpPr>
        <p:spPr>
          <a:xfrm>
            <a:off x="777240" y="379476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83" name="Google Shape;183;p20"/>
          <p:cNvSpPr/>
          <p:nvPr/>
        </p:nvSpPr>
        <p:spPr>
          <a:xfrm>
            <a:off x="941832" y="3959352"/>
            <a:ext cx="512064" cy="512064"/>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84" name="Google Shape;184;p20"/>
          <p:cNvSpPr txBox="1"/>
          <p:nvPr/>
        </p:nvSpPr>
        <p:spPr>
          <a:xfrm>
            <a:off x="941832" y="4079771"/>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5</a:t>
            </a:r>
            <a:endParaRPr/>
          </a:p>
        </p:txBody>
      </p:sp>
      <p:sp>
        <p:nvSpPr>
          <p:cNvPr id="185" name="Google Shape;185;p20"/>
          <p:cNvSpPr txBox="1"/>
          <p:nvPr/>
        </p:nvSpPr>
        <p:spPr>
          <a:xfrm>
            <a:off x="1600200" y="3913632"/>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Academics</a:t>
            </a:r>
            <a:endParaRPr/>
          </a:p>
          <a:p>
            <a:pPr indent="0" lvl="0" marL="0" marR="0" rtl="0" algn="l">
              <a:spcBef>
                <a:spcPts val="0"/>
              </a:spcBef>
              <a:spcAft>
                <a:spcPts val="0"/>
              </a:spcAft>
              <a:buNone/>
            </a:pPr>
            <a:r>
              <a:rPr i="0" lang="en-US" sz="1100" u="none" cap="none" strike="noStrike">
                <a:solidFill>
                  <a:srgbClr val="5E6973"/>
                </a:solidFill>
              </a:rPr>
              <a:t>class • course • professor</a:t>
            </a:r>
            <a:endParaRPr/>
          </a:p>
        </p:txBody>
      </p:sp>
      <p:sp>
        <p:nvSpPr>
          <p:cNvPr id="186" name="Google Shape;186;p20"/>
          <p:cNvSpPr/>
          <p:nvPr/>
        </p:nvSpPr>
        <p:spPr>
          <a:xfrm>
            <a:off x="6355079" y="3794773"/>
            <a:ext cx="498360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87" name="Google Shape;187;p20"/>
          <p:cNvSpPr/>
          <p:nvPr/>
        </p:nvSpPr>
        <p:spPr>
          <a:xfrm>
            <a:off x="6519675" y="3895338"/>
            <a:ext cx="512100" cy="512100"/>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88" name="Google Shape;188;p20"/>
          <p:cNvSpPr txBox="1"/>
          <p:nvPr/>
        </p:nvSpPr>
        <p:spPr>
          <a:xfrm>
            <a:off x="6519650" y="3997488"/>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6</a:t>
            </a:r>
            <a:endParaRPr/>
          </a:p>
        </p:txBody>
      </p:sp>
      <p:sp>
        <p:nvSpPr>
          <p:cNvPr id="189" name="Google Shape;189;p20"/>
          <p:cNvSpPr txBox="1"/>
          <p:nvPr/>
        </p:nvSpPr>
        <p:spPr>
          <a:xfrm>
            <a:off x="7178040" y="3913632"/>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Marketplace</a:t>
            </a:r>
            <a:endParaRPr/>
          </a:p>
          <a:p>
            <a:pPr indent="0" lvl="0" marL="0" marR="0" rtl="0" algn="l">
              <a:spcBef>
                <a:spcPts val="0"/>
              </a:spcBef>
              <a:spcAft>
                <a:spcPts val="0"/>
              </a:spcAft>
              <a:buNone/>
            </a:pPr>
            <a:r>
              <a:rPr i="0" lang="en-US" sz="1100" u="none" cap="none" strike="noStrike">
                <a:solidFill>
                  <a:srgbClr val="5E6973"/>
                </a:solidFill>
              </a:rPr>
              <a:t>sell • ticket • buy</a:t>
            </a:r>
            <a:endParaRPr/>
          </a:p>
        </p:txBody>
      </p:sp>
      <p:sp>
        <p:nvSpPr>
          <p:cNvPr id="190" name="Google Shape;190;p20"/>
          <p:cNvSpPr/>
          <p:nvPr/>
        </p:nvSpPr>
        <p:spPr>
          <a:xfrm>
            <a:off x="3566160" y="5029200"/>
            <a:ext cx="4983480" cy="9144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91" name="Google Shape;191;p20"/>
          <p:cNvSpPr/>
          <p:nvPr/>
        </p:nvSpPr>
        <p:spPr>
          <a:xfrm>
            <a:off x="3730752" y="5193792"/>
            <a:ext cx="512064" cy="512064"/>
          </a:xfrm>
          <a:prstGeom prst="ellipse">
            <a:avLst/>
          </a:prstGeom>
          <a:solidFill>
            <a:srgbClr val="072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192" name="Google Shape;192;p20"/>
          <p:cNvSpPr txBox="1"/>
          <p:nvPr/>
        </p:nvSpPr>
        <p:spPr>
          <a:xfrm>
            <a:off x="3730739" y="5316811"/>
            <a:ext cx="512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rPr>
              <a:t>7</a:t>
            </a:r>
            <a:endParaRPr/>
          </a:p>
        </p:txBody>
      </p:sp>
      <p:sp>
        <p:nvSpPr>
          <p:cNvPr id="193" name="Google Shape;193;p20"/>
          <p:cNvSpPr txBox="1"/>
          <p:nvPr/>
        </p:nvSpPr>
        <p:spPr>
          <a:xfrm>
            <a:off x="4389120" y="5148072"/>
            <a:ext cx="393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72B4C"/>
                </a:solidFill>
              </a:rPr>
              <a:t>Communication</a:t>
            </a:r>
            <a:endParaRPr/>
          </a:p>
          <a:p>
            <a:pPr indent="0" lvl="0" marL="0" marR="0" rtl="0" algn="l">
              <a:spcBef>
                <a:spcPts val="0"/>
              </a:spcBef>
              <a:spcAft>
                <a:spcPts val="0"/>
              </a:spcAft>
              <a:buNone/>
            </a:pPr>
            <a:r>
              <a:rPr i="0" lang="en-US" sz="1100" u="none" cap="none" strike="noStrike">
                <a:solidFill>
                  <a:srgbClr val="5E6973"/>
                </a:solidFill>
              </a:rPr>
              <a:t>email • send • issue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nvSpPr>
        <p:spPr>
          <a:xfrm>
            <a:off x="640080" y="384048"/>
            <a:ext cx="10972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72B4C"/>
                </a:solidFill>
              </a:rPr>
              <a:t>Sentiment Analysis with VADER</a:t>
            </a:r>
            <a:endParaRPr/>
          </a:p>
        </p:txBody>
      </p:sp>
      <p:sp>
        <p:nvSpPr>
          <p:cNvPr id="199" name="Google Shape;199;p21"/>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1"/>
          <p:cNvSpPr txBox="1"/>
          <p:nvPr/>
        </p:nvSpPr>
        <p:spPr>
          <a:xfrm>
            <a:off x="10698480" y="6473952"/>
            <a:ext cx="82296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8</a:t>
            </a:r>
            <a:endParaRPr/>
          </a:p>
        </p:txBody>
      </p:sp>
      <p:sp>
        <p:nvSpPr>
          <p:cNvPr id="201" name="Google Shape;201;p21"/>
          <p:cNvSpPr/>
          <p:nvPr/>
        </p:nvSpPr>
        <p:spPr>
          <a:xfrm>
            <a:off x="1219185" y="2007110"/>
            <a:ext cx="502800" cy="502800"/>
          </a:xfrm>
          <a:prstGeom prst="ellipse">
            <a:avLst/>
          </a:prstGeom>
          <a:solidFill>
            <a:srgbClr val="2E7D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1"/>
          <p:cNvSpPr txBox="1"/>
          <p:nvPr/>
        </p:nvSpPr>
        <p:spPr>
          <a:xfrm>
            <a:off x="1904985" y="1988822"/>
            <a:ext cx="37491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072B4C"/>
                </a:solidFill>
                <a:latin typeface="Arial"/>
                <a:ea typeface="Arial"/>
                <a:cs typeface="Arial"/>
                <a:sym typeface="Arial"/>
              </a:rPr>
              <a:t>Positive</a:t>
            </a:r>
            <a:endParaRPr/>
          </a:p>
          <a:p>
            <a:pPr indent="0" lvl="0" marL="0" marR="0" rtl="0" algn="l">
              <a:spcBef>
                <a:spcPts val="0"/>
              </a:spcBef>
              <a:spcAft>
                <a:spcPts val="0"/>
              </a:spcAft>
              <a:buNone/>
            </a:pPr>
            <a:r>
              <a:rPr b="0" i="0" lang="en-US" sz="1200" u="none" cap="none" strike="noStrike">
                <a:solidFill>
                  <a:srgbClr val="5E6973"/>
                </a:solidFill>
                <a:latin typeface="Arial"/>
                <a:ea typeface="Arial"/>
                <a:cs typeface="Arial"/>
                <a:sym typeface="Arial"/>
              </a:rPr>
              <a:t>compound ≥ 0.05</a:t>
            </a:r>
            <a:endParaRPr/>
          </a:p>
        </p:txBody>
      </p:sp>
      <p:sp>
        <p:nvSpPr>
          <p:cNvPr id="203" name="Google Shape;203;p21"/>
          <p:cNvSpPr/>
          <p:nvPr/>
        </p:nvSpPr>
        <p:spPr>
          <a:xfrm>
            <a:off x="1219185" y="3150110"/>
            <a:ext cx="502800" cy="502800"/>
          </a:xfrm>
          <a:prstGeom prst="ellipse">
            <a:avLst/>
          </a:prstGeom>
          <a:solidFill>
            <a:srgbClr val="8892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1"/>
          <p:cNvSpPr txBox="1"/>
          <p:nvPr/>
        </p:nvSpPr>
        <p:spPr>
          <a:xfrm>
            <a:off x="1904985" y="3131822"/>
            <a:ext cx="37491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072B4C"/>
                </a:solidFill>
                <a:latin typeface="Arial"/>
                <a:ea typeface="Arial"/>
                <a:cs typeface="Arial"/>
                <a:sym typeface="Arial"/>
              </a:rPr>
              <a:t>Neutral</a:t>
            </a:r>
            <a:endParaRPr/>
          </a:p>
          <a:p>
            <a:pPr indent="0" lvl="0" marL="0" marR="0" rtl="0" algn="l">
              <a:spcBef>
                <a:spcPts val="0"/>
              </a:spcBef>
              <a:spcAft>
                <a:spcPts val="0"/>
              </a:spcAft>
              <a:buNone/>
            </a:pPr>
            <a:r>
              <a:rPr b="0" i="0" lang="en-US" sz="1200" u="none" cap="none" strike="noStrike">
                <a:solidFill>
                  <a:srgbClr val="5E6973"/>
                </a:solidFill>
                <a:latin typeface="Arial"/>
                <a:ea typeface="Arial"/>
                <a:cs typeface="Arial"/>
                <a:sym typeface="Arial"/>
              </a:rPr>
              <a:t>−0.05 &lt; compound &lt; 0.05</a:t>
            </a:r>
            <a:endParaRPr/>
          </a:p>
        </p:txBody>
      </p:sp>
      <p:sp>
        <p:nvSpPr>
          <p:cNvPr id="205" name="Google Shape;205;p21"/>
          <p:cNvSpPr/>
          <p:nvPr/>
        </p:nvSpPr>
        <p:spPr>
          <a:xfrm>
            <a:off x="1219185" y="4293110"/>
            <a:ext cx="502800" cy="502800"/>
          </a:xfrm>
          <a:prstGeom prst="ellipse">
            <a:avLst/>
          </a:prstGeom>
          <a:solidFill>
            <a:srgbClr val="C6282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1904985" y="4274822"/>
            <a:ext cx="37491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072B4C"/>
                </a:solidFill>
                <a:latin typeface="Arial"/>
                <a:ea typeface="Arial"/>
                <a:cs typeface="Arial"/>
                <a:sym typeface="Arial"/>
              </a:rPr>
              <a:t>Negative</a:t>
            </a:r>
            <a:endParaRPr/>
          </a:p>
          <a:p>
            <a:pPr indent="0" lvl="0" marL="0" marR="0" rtl="0" algn="l">
              <a:spcBef>
                <a:spcPts val="0"/>
              </a:spcBef>
              <a:spcAft>
                <a:spcPts val="0"/>
              </a:spcAft>
              <a:buNone/>
            </a:pPr>
            <a:r>
              <a:rPr b="0" i="0" lang="en-US" sz="1200" u="none" cap="none" strike="noStrike">
                <a:solidFill>
                  <a:srgbClr val="5E6973"/>
                </a:solidFill>
                <a:latin typeface="Arial"/>
                <a:ea typeface="Arial"/>
                <a:cs typeface="Arial"/>
                <a:sym typeface="Arial"/>
              </a:rPr>
              <a:t>compound ≤ −0.05</a:t>
            </a:r>
            <a:endParaRPr/>
          </a:p>
        </p:txBody>
      </p:sp>
      <p:sp>
        <p:nvSpPr>
          <p:cNvPr id="207" name="Google Shape;207;p21"/>
          <p:cNvSpPr/>
          <p:nvPr/>
        </p:nvSpPr>
        <p:spPr>
          <a:xfrm>
            <a:off x="5836915" y="1851658"/>
            <a:ext cx="5394900" cy="3154800"/>
          </a:xfrm>
          <a:prstGeom prst="roundRect">
            <a:avLst>
              <a:gd fmla="val 16667" name="adj"/>
            </a:avLst>
          </a:prstGeom>
          <a:solidFill>
            <a:srgbClr val="F5F7FA"/>
          </a:solidFill>
          <a:ln cap="flat" cmpd="sng" w="9525">
            <a:solidFill>
              <a:srgbClr val="E1E5E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1"/>
          <p:cNvSpPr txBox="1"/>
          <p:nvPr/>
        </p:nvSpPr>
        <p:spPr>
          <a:xfrm>
            <a:off x="6111285" y="2316907"/>
            <a:ext cx="4846200" cy="222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chemeClr val="dk1"/>
                </a:solidFill>
                <a:latin typeface="Arial"/>
                <a:ea typeface="Arial"/>
                <a:cs typeface="Arial"/>
                <a:sym typeface="Arial"/>
              </a:rPr>
              <a:t>What the </a:t>
            </a:r>
            <a:r>
              <a:rPr b="1" lang="en-US" sz="2300">
                <a:solidFill>
                  <a:schemeClr val="dk1"/>
                </a:solidFill>
              </a:rPr>
              <a:t>code </a:t>
            </a:r>
            <a:r>
              <a:rPr b="1" i="0" lang="en-US" sz="2300" u="none" cap="none" strike="noStrike">
                <a:solidFill>
                  <a:schemeClr val="dk1"/>
                </a:solidFill>
                <a:latin typeface="Arial"/>
                <a:ea typeface="Arial"/>
                <a:cs typeface="Arial"/>
                <a:sym typeface="Arial"/>
              </a:rPr>
              <a:t>does</a:t>
            </a:r>
            <a:endParaRPr b="1" i="0" sz="23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1" sz="2300">
              <a:solidFill>
                <a:schemeClr val="dk1"/>
              </a:solidFill>
            </a:endParaRPr>
          </a:p>
          <a:p>
            <a:pPr indent="0" lvl="0" marL="0" marR="0" rtl="0" algn="l">
              <a:spcBef>
                <a:spcPts val="500"/>
              </a:spcBef>
              <a:spcAft>
                <a:spcPts val="0"/>
              </a:spcAft>
              <a:buNone/>
            </a:pPr>
            <a:r>
              <a:rPr b="0" i="0" lang="en-US" sz="2000" u="none" cap="none" strike="noStrike">
                <a:solidFill>
                  <a:schemeClr val="dk1"/>
                </a:solidFill>
                <a:latin typeface="Arial"/>
                <a:ea typeface="Arial"/>
                <a:cs typeface="Arial"/>
                <a:sym typeface="Arial"/>
              </a:rPr>
              <a:t>• Combines each post title + selftext</a:t>
            </a:r>
            <a:endParaRPr sz="2000">
              <a:solidFill>
                <a:schemeClr val="dk1"/>
              </a:solidFill>
            </a:endParaRPr>
          </a:p>
          <a:p>
            <a:pPr indent="0" lvl="0" marL="0" marR="0" rtl="0" algn="l">
              <a:spcBef>
                <a:spcPts val="500"/>
              </a:spcBef>
              <a:spcAft>
                <a:spcPts val="0"/>
              </a:spcAft>
              <a:buNone/>
            </a:pPr>
            <a:r>
              <a:rPr b="0" i="0" lang="en-US" sz="2000" u="none" cap="none" strike="noStrike">
                <a:solidFill>
                  <a:schemeClr val="dk1"/>
                </a:solidFill>
                <a:latin typeface="Arial"/>
                <a:ea typeface="Arial"/>
                <a:cs typeface="Arial"/>
                <a:sym typeface="Arial"/>
              </a:rPr>
              <a:t>• Calculates negative, neutral, positive, and compound scores</a:t>
            </a:r>
            <a:endParaRPr sz="2000">
              <a:solidFill>
                <a:schemeClr val="dk1"/>
              </a:solidFill>
            </a:endParaRPr>
          </a:p>
          <a:p>
            <a:pPr indent="0" lvl="0" marL="0" marR="0" rtl="0" algn="l">
              <a:spcBef>
                <a:spcPts val="500"/>
              </a:spcBef>
              <a:spcAft>
                <a:spcPts val="0"/>
              </a:spcAft>
              <a:buNone/>
            </a:pPr>
            <a:r>
              <a:rPr b="0" i="0" lang="en-US" sz="2000" u="none" cap="none" strike="noStrike">
                <a:solidFill>
                  <a:schemeClr val="dk1"/>
                </a:solidFill>
                <a:latin typeface="Arial"/>
                <a:ea typeface="Arial"/>
                <a:cs typeface="Arial"/>
                <a:sym typeface="Arial"/>
              </a:rPr>
              <a:t>• Assigns a sentiment label to every post</a:t>
            </a: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nvSpPr>
        <p:spPr>
          <a:xfrm>
            <a:off x="530352" y="310896"/>
            <a:ext cx="98754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52B48"/>
                </a:solidFill>
              </a:rPr>
              <a:t>Why We Chose VADER</a:t>
            </a:r>
            <a:endParaRPr sz="2700"/>
          </a:p>
        </p:txBody>
      </p:sp>
      <p:sp>
        <p:nvSpPr>
          <p:cNvPr id="214" name="Google Shape;214;p22"/>
          <p:cNvSpPr/>
          <p:nvPr/>
        </p:nvSpPr>
        <p:spPr>
          <a:xfrm>
            <a:off x="632397" y="941825"/>
            <a:ext cx="750900" cy="21900"/>
          </a:xfrm>
          <a:prstGeom prst="rect">
            <a:avLst/>
          </a:prstGeom>
          <a:solidFill>
            <a:srgbClr val="FFC62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endParaRPr>
          </a:p>
        </p:txBody>
      </p:sp>
      <p:sp>
        <p:nvSpPr>
          <p:cNvPr id="215" name="Google Shape;215;p22"/>
          <p:cNvSpPr txBox="1"/>
          <p:nvPr/>
        </p:nvSpPr>
        <p:spPr>
          <a:xfrm>
            <a:off x="11201400" y="6492240"/>
            <a:ext cx="320100" cy="184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600" u="none" cap="none" strike="noStrike">
                <a:solidFill>
                  <a:srgbClr val="969696"/>
                </a:solidFill>
              </a:rPr>
              <a:t>9</a:t>
            </a:r>
            <a:endParaRPr/>
          </a:p>
        </p:txBody>
      </p:sp>
      <p:sp>
        <p:nvSpPr>
          <p:cNvPr id="216" name="Google Shape;216;p22"/>
          <p:cNvSpPr/>
          <p:nvPr/>
        </p:nvSpPr>
        <p:spPr>
          <a:xfrm>
            <a:off x="685800" y="1325880"/>
            <a:ext cx="3246120" cy="1325880"/>
          </a:xfrm>
          <a:prstGeom prst="roundRect">
            <a:avLst>
              <a:gd fmla="val 16667" name="adj"/>
            </a:avLst>
          </a:prstGeom>
          <a:solidFill>
            <a:srgbClr val="F5F7FA"/>
          </a:solidFill>
          <a:ln cap="flat" cmpd="sng" w="9525">
            <a:solidFill>
              <a:srgbClr val="D2D9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164575" spcFirstLastPara="1" rIns="137150" wrap="square" tIns="109725">
            <a:noAutofit/>
          </a:bodyPr>
          <a:lstStyle/>
          <a:p>
            <a:pPr indent="0" lvl="0" marL="0" marR="0" rtl="0" algn="ctr">
              <a:spcBef>
                <a:spcPts val="0"/>
              </a:spcBef>
              <a:spcAft>
                <a:spcPts val="0"/>
              </a:spcAft>
              <a:buNone/>
            </a:pPr>
            <a:r>
              <a:rPr b="1" i="0" lang="en-US" sz="1700" u="none" cap="none" strike="noStrike">
                <a:solidFill>
                  <a:srgbClr val="052B48"/>
                </a:solidFill>
              </a:rPr>
              <a:t>Naive baseline</a:t>
            </a:r>
            <a:endParaRPr sz="1500"/>
          </a:p>
          <a:p>
            <a:pPr indent="0" lvl="0" marL="0" marR="0" rtl="0" algn="ctr">
              <a:lnSpc>
                <a:spcPct val="105000"/>
              </a:lnSpc>
              <a:spcBef>
                <a:spcPts val="400"/>
              </a:spcBef>
              <a:spcAft>
                <a:spcPts val="0"/>
              </a:spcAft>
              <a:buNone/>
            </a:pPr>
            <a:r>
              <a:rPr i="0" lang="en-US" sz="1000" u="none" cap="none" strike="noStrike">
                <a:solidFill>
                  <a:srgbClr val="506070"/>
                </a:solidFill>
              </a:rPr>
              <a:t>Counted a short list of positive and negative words, then labeled ties as neutral</a:t>
            </a:r>
            <a:endParaRPr/>
          </a:p>
        </p:txBody>
      </p:sp>
      <p:sp>
        <p:nvSpPr>
          <p:cNvPr id="217" name="Google Shape;217;p22"/>
          <p:cNvSpPr/>
          <p:nvPr/>
        </p:nvSpPr>
        <p:spPr>
          <a:xfrm>
            <a:off x="4480560" y="1325880"/>
            <a:ext cx="3246120" cy="1325880"/>
          </a:xfrm>
          <a:prstGeom prst="roundRect">
            <a:avLst>
              <a:gd fmla="val 16667" name="adj"/>
            </a:avLst>
          </a:prstGeom>
          <a:solidFill>
            <a:srgbClr val="F5F7FA"/>
          </a:solidFill>
          <a:ln cap="flat" cmpd="sng" w="9525">
            <a:solidFill>
              <a:srgbClr val="D2D9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164575" spcFirstLastPara="1" rIns="137150" wrap="square" tIns="109725">
            <a:noAutofit/>
          </a:bodyPr>
          <a:lstStyle/>
          <a:p>
            <a:pPr indent="0" lvl="0" marL="0" marR="0" rtl="0" algn="ctr">
              <a:spcBef>
                <a:spcPts val="0"/>
              </a:spcBef>
              <a:spcAft>
                <a:spcPts val="0"/>
              </a:spcAft>
              <a:buNone/>
            </a:pPr>
            <a:r>
              <a:rPr b="1" i="0" lang="en-US" sz="1700" u="none" cap="none" strike="noStrike">
                <a:solidFill>
                  <a:srgbClr val="2A75C2"/>
                </a:solidFill>
              </a:rPr>
              <a:t>VADER model</a:t>
            </a:r>
            <a:endParaRPr sz="1500"/>
          </a:p>
          <a:p>
            <a:pPr indent="0" lvl="0" marL="0" marR="0" rtl="0" algn="ctr">
              <a:lnSpc>
                <a:spcPct val="105000"/>
              </a:lnSpc>
              <a:spcBef>
                <a:spcPts val="400"/>
              </a:spcBef>
              <a:spcAft>
                <a:spcPts val="0"/>
              </a:spcAft>
              <a:buNone/>
            </a:pPr>
            <a:r>
              <a:rPr i="0" lang="en-US" sz="1000" u="none" cap="none" strike="noStrike">
                <a:solidFill>
                  <a:srgbClr val="506070"/>
                </a:solidFill>
              </a:rPr>
              <a:t>Uses polarity strength, negation, punctuation, and common social-media wording</a:t>
            </a:r>
            <a:endParaRPr/>
          </a:p>
        </p:txBody>
      </p:sp>
      <p:sp>
        <p:nvSpPr>
          <p:cNvPr id="218" name="Google Shape;218;p22"/>
          <p:cNvSpPr/>
          <p:nvPr/>
        </p:nvSpPr>
        <p:spPr>
          <a:xfrm>
            <a:off x="8275320" y="1325880"/>
            <a:ext cx="2834640" cy="1325880"/>
          </a:xfrm>
          <a:prstGeom prst="roundRect">
            <a:avLst>
              <a:gd fmla="val 16667" name="adj"/>
            </a:avLst>
          </a:prstGeom>
          <a:solidFill>
            <a:srgbClr val="F5F7FA"/>
          </a:solidFill>
          <a:ln cap="flat" cmpd="sng" w="9525">
            <a:solidFill>
              <a:srgbClr val="D2D9E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164575" spcFirstLastPara="1" rIns="137150" wrap="square" tIns="109725">
            <a:noAutofit/>
          </a:bodyPr>
          <a:lstStyle/>
          <a:p>
            <a:pPr indent="0" lvl="0" marL="0" marR="0" rtl="0" algn="ctr">
              <a:spcBef>
                <a:spcPts val="0"/>
              </a:spcBef>
              <a:spcAft>
                <a:spcPts val="0"/>
              </a:spcAft>
              <a:buNone/>
            </a:pPr>
            <a:r>
              <a:rPr b="1" i="0" lang="en-US" sz="1700" u="none" cap="none" strike="noStrike">
                <a:solidFill>
                  <a:srgbClr val="C22D2D"/>
                </a:solidFill>
              </a:rPr>
              <a:t>Why it matters</a:t>
            </a:r>
            <a:endParaRPr sz="1500"/>
          </a:p>
          <a:p>
            <a:pPr indent="0" lvl="0" marL="0" marR="0" rtl="0" algn="ctr">
              <a:lnSpc>
                <a:spcPct val="105000"/>
              </a:lnSpc>
              <a:spcBef>
                <a:spcPts val="400"/>
              </a:spcBef>
              <a:spcAft>
                <a:spcPts val="0"/>
              </a:spcAft>
              <a:buNone/>
            </a:pPr>
            <a:r>
              <a:rPr i="0" lang="en-US" sz="1000" u="none" cap="none" strike="noStrike">
                <a:solidFill>
                  <a:srgbClr val="506070"/>
                </a:solidFill>
              </a:rPr>
              <a:t>Reddit posts are informal, sarcastic, and often mixed in tone</a:t>
            </a:r>
            <a:endParaRPr/>
          </a:p>
        </p:txBody>
      </p:sp>
      <p:sp>
        <p:nvSpPr>
          <p:cNvPr id="219" name="Google Shape;219;p22"/>
          <p:cNvSpPr/>
          <p:nvPr/>
        </p:nvSpPr>
        <p:spPr>
          <a:xfrm>
            <a:off x="777240" y="3154680"/>
            <a:ext cx="2331720" cy="1051560"/>
          </a:xfrm>
          <a:prstGeom prst="roundRect">
            <a:avLst>
              <a:gd fmla="val 16667" name="adj"/>
            </a:avLst>
          </a:prstGeom>
          <a:solidFill>
            <a:srgbClr val="F6F8FA"/>
          </a:solidFill>
          <a:ln cap="flat" cmpd="sng" w="9525">
            <a:solidFill>
              <a:srgbClr val="CDD6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rgbClr val="2A75C2"/>
                </a:solidFill>
              </a:rPr>
              <a:t>53.8%</a:t>
            </a:r>
            <a:endParaRPr/>
          </a:p>
          <a:p>
            <a:pPr indent="0" lvl="0" marL="0" marR="0" rtl="0" algn="ctr">
              <a:spcBef>
                <a:spcPts val="0"/>
              </a:spcBef>
              <a:spcAft>
                <a:spcPts val="0"/>
              </a:spcAft>
              <a:buNone/>
            </a:pPr>
            <a:r>
              <a:rPr i="0" lang="en-US" sz="800" u="none" cap="none" strike="noStrike">
                <a:solidFill>
                  <a:srgbClr val="506070"/>
                </a:solidFill>
              </a:rPr>
              <a:t>agreement with VADER</a:t>
            </a:r>
            <a:endParaRPr/>
          </a:p>
        </p:txBody>
      </p:sp>
      <p:sp>
        <p:nvSpPr>
          <p:cNvPr id="220" name="Google Shape;220;p22"/>
          <p:cNvSpPr/>
          <p:nvPr/>
        </p:nvSpPr>
        <p:spPr>
          <a:xfrm>
            <a:off x="3383280" y="3154680"/>
            <a:ext cx="2331720" cy="1051560"/>
          </a:xfrm>
          <a:prstGeom prst="roundRect">
            <a:avLst>
              <a:gd fmla="val 16667" name="adj"/>
            </a:avLst>
          </a:prstGeom>
          <a:solidFill>
            <a:srgbClr val="F6F8FA"/>
          </a:solidFill>
          <a:ln cap="flat" cmpd="sng" w="9525">
            <a:solidFill>
              <a:srgbClr val="CDD6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rgbClr val="052B48"/>
                </a:solidFill>
              </a:rPr>
              <a:t>0.285</a:t>
            </a:r>
            <a:endParaRPr/>
          </a:p>
          <a:p>
            <a:pPr indent="0" lvl="0" marL="0" marR="0" rtl="0" algn="ctr">
              <a:spcBef>
                <a:spcPts val="0"/>
              </a:spcBef>
              <a:spcAft>
                <a:spcPts val="0"/>
              </a:spcAft>
              <a:buNone/>
            </a:pPr>
            <a:r>
              <a:rPr i="0" lang="en-US" sz="800" u="none" cap="none" strike="noStrike">
                <a:solidFill>
                  <a:srgbClr val="506070"/>
                </a:solidFill>
              </a:rPr>
              <a:t>Cohen’s kappa</a:t>
            </a:r>
            <a:endParaRPr/>
          </a:p>
        </p:txBody>
      </p:sp>
      <p:sp>
        <p:nvSpPr>
          <p:cNvPr id="221" name="Google Shape;221;p22"/>
          <p:cNvSpPr/>
          <p:nvPr/>
        </p:nvSpPr>
        <p:spPr>
          <a:xfrm>
            <a:off x="5989320" y="3154680"/>
            <a:ext cx="2331720" cy="1051560"/>
          </a:xfrm>
          <a:prstGeom prst="roundRect">
            <a:avLst>
              <a:gd fmla="val 16667" name="adj"/>
            </a:avLst>
          </a:prstGeom>
          <a:solidFill>
            <a:srgbClr val="F6F8FA"/>
          </a:solidFill>
          <a:ln cap="flat" cmpd="sng" w="9525">
            <a:solidFill>
              <a:srgbClr val="CDD6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rgbClr val="C22D2D"/>
                </a:solidFill>
              </a:rPr>
              <a:t>12,458</a:t>
            </a:r>
            <a:endParaRPr/>
          </a:p>
          <a:p>
            <a:pPr indent="0" lvl="0" marL="0" marR="0" rtl="0" algn="ctr">
              <a:spcBef>
                <a:spcPts val="0"/>
              </a:spcBef>
              <a:spcAft>
                <a:spcPts val="0"/>
              </a:spcAft>
              <a:buNone/>
            </a:pPr>
            <a:r>
              <a:rPr i="0" lang="en-US" sz="800" u="none" cap="none" strike="noStrike">
                <a:solidFill>
                  <a:srgbClr val="506070"/>
                </a:solidFill>
              </a:rPr>
              <a:t>posts naive called neutral</a:t>
            </a:r>
            <a:endParaRPr/>
          </a:p>
        </p:txBody>
      </p:sp>
      <p:sp>
        <p:nvSpPr>
          <p:cNvPr id="222" name="Google Shape;222;p22"/>
          <p:cNvSpPr/>
          <p:nvPr/>
        </p:nvSpPr>
        <p:spPr>
          <a:xfrm>
            <a:off x="8595360" y="3154680"/>
            <a:ext cx="2331720" cy="1051560"/>
          </a:xfrm>
          <a:prstGeom prst="roundRect">
            <a:avLst>
              <a:gd fmla="val 16667" name="adj"/>
            </a:avLst>
          </a:prstGeom>
          <a:solidFill>
            <a:srgbClr val="F6F8FA"/>
          </a:solidFill>
          <a:ln cap="flat" cmpd="sng" w="9525">
            <a:solidFill>
              <a:srgbClr val="CDD6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rgbClr val="269158"/>
                </a:solidFill>
              </a:rPr>
              <a:t>6,071</a:t>
            </a:r>
            <a:endParaRPr/>
          </a:p>
          <a:p>
            <a:pPr indent="0" lvl="0" marL="0" marR="0" rtl="0" algn="ctr">
              <a:spcBef>
                <a:spcPts val="0"/>
              </a:spcBef>
              <a:spcAft>
                <a:spcPts val="0"/>
              </a:spcAft>
              <a:buNone/>
            </a:pPr>
            <a:r>
              <a:rPr i="0" lang="en-US" sz="800" u="none" cap="none" strike="noStrike">
                <a:solidFill>
                  <a:srgbClr val="506070"/>
                </a:solidFill>
              </a:rPr>
              <a:t>disagreements with negation</a:t>
            </a:r>
            <a:endParaRPr/>
          </a:p>
        </p:txBody>
      </p:sp>
      <p:sp>
        <p:nvSpPr>
          <p:cNvPr id="223" name="Google Shape;223;p22"/>
          <p:cNvSpPr/>
          <p:nvPr/>
        </p:nvSpPr>
        <p:spPr>
          <a:xfrm>
            <a:off x="1051560" y="4892040"/>
            <a:ext cx="10058400" cy="777240"/>
          </a:xfrm>
          <a:prstGeom prst="roundRect">
            <a:avLst>
              <a:gd fmla="val 16667" name="adj"/>
            </a:avLst>
          </a:prstGeom>
          <a:solidFill>
            <a:srgbClr val="052B48"/>
          </a:solidFill>
          <a:ln>
            <a:noFill/>
          </a:ln>
          <a:effectLst>
            <a:outerShdw blurRad="40000" rotWithShape="0" dir="5400000" dist="23000">
              <a:srgbClr val="000000">
                <a:alpha val="34902"/>
              </a:srgbClr>
            </a:outerShdw>
          </a:effectLst>
        </p:spPr>
        <p:txBody>
          <a:bodyPr anchorCtr="0" anchor="ctr" bIns="45700" lIns="228600" spcFirstLastPara="1" rIns="228600" wrap="square" tIns="45700">
            <a:noAutofit/>
          </a:bodyPr>
          <a:lstStyle/>
          <a:p>
            <a:pPr indent="0" lvl="0" marL="0" marR="0" rtl="0" algn="ctr">
              <a:spcBef>
                <a:spcPts val="0"/>
              </a:spcBef>
              <a:spcAft>
                <a:spcPts val="0"/>
              </a:spcAft>
              <a:buNone/>
            </a:pPr>
            <a:r>
              <a:rPr b="1" i="0" lang="en-US" sz="1600" u="none" cap="none" strike="noStrike">
                <a:solidFill>
                  <a:srgbClr val="FFFFFF"/>
                </a:solidFill>
              </a:rPr>
              <a:t>Main point: the naive model overused “neutral,” while VADER captured more real positive and negative signals.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nvSpPr>
        <p:spPr>
          <a:xfrm>
            <a:off x="530352" y="310896"/>
            <a:ext cx="98754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700" u="none" cap="none" strike="noStrike">
                <a:solidFill>
                  <a:srgbClr val="052B48"/>
                </a:solidFill>
              </a:rPr>
              <a:t>Naive Word Counts Missed Sentiment</a:t>
            </a:r>
            <a:endParaRPr sz="2700"/>
          </a:p>
        </p:txBody>
      </p:sp>
      <p:sp>
        <p:nvSpPr>
          <p:cNvPr id="229" name="Google Shape;229;p23"/>
          <p:cNvSpPr/>
          <p:nvPr/>
        </p:nvSpPr>
        <p:spPr>
          <a:xfrm>
            <a:off x="594347" y="964200"/>
            <a:ext cx="800400" cy="45000"/>
          </a:xfrm>
          <a:prstGeom prst="rect">
            <a:avLst/>
          </a:prstGeom>
          <a:solidFill>
            <a:srgbClr val="FFC62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3"/>
          <p:cNvSpPr txBox="1"/>
          <p:nvPr/>
        </p:nvSpPr>
        <p:spPr>
          <a:xfrm>
            <a:off x="11201400" y="6492240"/>
            <a:ext cx="320040" cy="1371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600" u="none" cap="none" strike="noStrike">
                <a:solidFill>
                  <a:srgbClr val="969696"/>
                </a:solidFill>
                <a:latin typeface="Calibri"/>
                <a:ea typeface="Calibri"/>
                <a:cs typeface="Calibri"/>
                <a:sym typeface="Calibri"/>
              </a:rPr>
              <a:t>10</a:t>
            </a:r>
            <a:endParaRPr/>
          </a:p>
        </p:txBody>
      </p:sp>
      <p:pic>
        <p:nvPicPr>
          <p:cNvPr descr="vader_naive_confusion_matrix_clean.png" id="231" name="Google Shape;231;p23"/>
          <p:cNvPicPr preferRelativeResize="0"/>
          <p:nvPr/>
        </p:nvPicPr>
        <p:blipFill rotWithShape="1">
          <a:blip r:embed="rId3">
            <a:alphaModFix/>
          </a:blip>
          <a:srcRect b="0" l="0" r="0" t="0"/>
          <a:stretch/>
        </p:blipFill>
        <p:spPr>
          <a:xfrm>
            <a:off x="1036325" y="1154600"/>
            <a:ext cx="5565649" cy="5078500"/>
          </a:xfrm>
          <a:prstGeom prst="rect">
            <a:avLst/>
          </a:prstGeom>
          <a:noFill/>
          <a:ln>
            <a:noFill/>
          </a:ln>
        </p:spPr>
      </p:pic>
      <p:sp>
        <p:nvSpPr>
          <p:cNvPr id="232" name="Google Shape;232;p23"/>
          <p:cNvSpPr/>
          <p:nvPr/>
        </p:nvSpPr>
        <p:spPr>
          <a:xfrm>
            <a:off x="7528060" y="1417320"/>
            <a:ext cx="4434900" cy="1005900"/>
          </a:xfrm>
          <a:prstGeom prst="roundRect">
            <a:avLst>
              <a:gd fmla="val 16667" name="adj"/>
            </a:avLst>
          </a:prstGeom>
          <a:solidFill>
            <a:srgbClr val="F6F8FA"/>
          </a:solidFill>
          <a:ln cap="flat" cmpd="sng" w="9525">
            <a:solidFill>
              <a:srgbClr val="CDD6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C22D2D"/>
                </a:solidFill>
              </a:rPr>
              <a:t>9,226</a:t>
            </a:r>
            <a:endParaRPr sz="1500"/>
          </a:p>
          <a:p>
            <a:pPr indent="0" lvl="0" marL="0" marR="0" rtl="0" algn="ctr">
              <a:spcBef>
                <a:spcPts val="0"/>
              </a:spcBef>
              <a:spcAft>
                <a:spcPts val="0"/>
              </a:spcAft>
              <a:buNone/>
            </a:pPr>
            <a:r>
              <a:rPr i="0" lang="en-US" sz="900" u="none" cap="none" strike="noStrike">
                <a:solidFill>
                  <a:srgbClr val="506070"/>
                </a:solidFill>
              </a:rPr>
              <a:t>VADER non-neutral posts that naive labeled neutral</a:t>
            </a:r>
            <a:endParaRPr sz="1500"/>
          </a:p>
        </p:txBody>
      </p:sp>
      <p:sp>
        <p:nvSpPr>
          <p:cNvPr id="233" name="Google Shape;233;p23"/>
          <p:cNvSpPr txBox="1"/>
          <p:nvPr/>
        </p:nvSpPr>
        <p:spPr>
          <a:xfrm>
            <a:off x="7551005" y="2742445"/>
            <a:ext cx="4389000" cy="1373100"/>
          </a:xfrm>
          <a:prstGeom prst="rect">
            <a:avLst/>
          </a:prstGeom>
          <a:noFill/>
          <a:ln>
            <a:noFill/>
          </a:ln>
        </p:spPr>
        <p:txBody>
          <a:bodyPr anchorCtr="0" anchor="t" bIns="45700" lIns="45700" spcFirstLastPara="1" rIns="45700" wrap="square" tIns="18275">
            <a:spAutoFit/>
          </a:bodyPr>
          <a:lstStyle/>
          <a:p>
            <a:pPr indent="0" lvl="0" marL="0" marR="0" rtl="0" algn="l">
              <a:spcBef>
                <a:spcPts val="0"/>
              </a:spcBef>
              <a:spcAft>
                <a:spcPts val="0"/>
              </a:spcAft>
              <a:buNone/>
            </a:pPr>
            <a:r>
              <a:rPr i="0" lang="en-US" sz="1500" u="none" cap="none" strike="noStrike">
                <a:solidFill>
                  <a:schemeClr val="dk1"/>
                </a:solidFill>
              </a:rPr>
              <a:t>• Naive missed many posts without exact dictionary words</a:t>
            </a:r>
            <a:endParaRPr sz="1700">
              <a:solidFill>
                <a:schemeClr val="dk1"/>
              </a:solidFill>
            </a:endParaRPr>
          </a:p>
          <a:p>
            <a:pPr indent="0" lvl="0" marL="0" marR="0" rtl="0" algn="l">
              <a:spcBef>
                <a:spcPts val="600"/>
              </a:spcBef>
              <a:spcAft>
                <a:spcPts val="0"/>
              </a:spcAft>
              <a:buNone/>
            </a:pPr>
            <a:r>
              <a:rPr i="0" lang="en-US" sz="1500" u="none" cap="none" strike="noStrike">
                <a:solidFill>
                  <a:schemeClr val="dk1"/>
                </a:solidFill>
              </a:rPr>
              <a:t>• Negation changed meaning: “not,” “never,” “without,” and “no.”</a:t>
            </a:r>
            <a:endParaRPr sz="1700">
              <a:solidFill>
                <a:schemeClr val="dk1"/>
              </a:solidFill>
            </a:endParaRPr>
          </a:p>
          <a:p>
            <a:pPr indent="0" lvl="0" marL="0" marR="0" rtl="0" algn="l">
              <a:spcBef>
                <a:spcPts val="600"/>
              </a:spcBef>
              <a:spcAft>
                <a:spcPts val="0"/>
              </a:spcAft>
              <a:buNone/>
            </a:pPr>
            <a:r>
              <a:rPr i="0" lang="en-US" sz="1500" u="none" cap="none" strike="noStrike">
                <a:solidFill>
                  <a:schemeClr val="dk1"/>
                </a:solidFill>
              </a:rPr>
              <a:t>• VADER was better for informal Reddit language</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p:nvPr/>
        </p:nvSpPr>
        <p:spPr>
          <a:xfrm>
            <a:off x="0" y="0"/>
            <a:ext cx="12191700" cy="685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4"/>
          <p:cNvSpPr txBox="1"/>
          <p:nvPr/>
        </p:nvSpPr>
        <p:spPr>
          <a:xfrm>
            <a:off x="640080" y="384048"/>
            <a:ext cx="109728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00">
                <a:solidFill>
                  <a:srgbClr val="072B4C"/>
                </a:solidFill>
              </a:rPr>
              <a:t>Examples</a:t>
            </a:r>
            <a:endParaRPr sz="1600"/>
          </a:p>
        </p:txBody>
      </p:sp>
      <p:sp>
        <p:nvSpPr>
          <p:cNvPr id="240" name="Google Shape;240;p24"/>
          <p:cNvSpPr/>
          <p:nvPr/>
        </p:nvSpPr>
        <p:spPr>
          <a:xfrm>
            <a:off x="640080" y="987552"/>
            <a:ext cx="914400" cy="54900"/>
          </a:xfrm>
          <a:prstGeom prst="rect">
            <a:avLst/>
          </a:prstGeom>
          <a:solidFill>
            <a:srgbClr val="FFC6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4"/>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9</a:t>
            </a:r>
            <a:endParaRPr/>
          </a:p>
        </p:txBody>
      </p:sp>
      <p:sp>
        <p:nvSpPr>
          <p:cNvPr id="242" name="Google Shape;242;p24"/>
          <p:cNvSpPr txBox="1"/>
          <p:nvPr/>
        </p:nvSpPr>
        <p:spPr>
          <a:xfrm>
            <a:off x="640075" y="1107151"/>
            <a:ext cx="9966900" cy="5587500"/>
          </a:xfrm>
          <a:prstGeom prst="rect">
            <a:avLst/>
          </a:prstGeom>
          <a:noFill/>
          <a:ln>
            <a:noFill/>
          </a:ln>
        </p:spPr>
        <p:txBody>
          <a:bodyPr anchorCtr="0" anchor="t" bIns="45700" lIns="91425" spcFirstLastPara="1" rIns="91425" wrap="square" tIns="45700">
            <a:spAutoFit/>
          </a:bodyPr>
          <a:lstStyle/>
          <a:p>
            <a:pPr indent="-336550" lvl="0" marL="457200" marR="0" rtl="0" algn="l">
              <a:lnSpc>
                <a:spcPct val="100000"/>
              </a:lnSpc>
              <a:spcBef>
                <a:spcPts val="0"/>
              </a:spcBef>
              <a:spcAft>
                <a:spcPts val="0"/>
              </a:spcAft>
              <a:buClr>
                <a:srgbClr val="072B4C"/>
              </a:buClr>
              <a:buSzPts val="1700"/>
              <a:buChar char="●"/>
            </a:pPr>
            <a:r>
              <a:rPr lang="en-US" sz="1700">
                <a:solidFill>
                  <a:srgbClr val="072B4C"/>
                </a:solidFill>
              </a:rPr>
              <a:t>Where do you guys find parking? I'm over near Powelton Avenue and I'm sick of getting parking tickets because I can never find a spot and end up in some temporary spot too long.\n\nWhere do you guys usually park? Or do you use Drexel Parking?\n\nThanks.</a:t>
            </a:r>
            <a:endParaRPr sz="1700">
              <a:solidFill>
                <a:srgbClr val="072B4C"/>
              </a:solidFill>
            </a:endParaRPr>
          </a:p>
          <a:p>
            <a:pPr indent="0" lvl="0" marL="0" marR="0" rtl="0" algn="l">
              <a:lnSpc>
                <a:spcPct val="100000"/>
              </a:lnSpc>
              <a:spcBef>
                <a:spcPts val="0"/>
              </a:spcBef>
              <a:spcAft>
                <a:spcPts val="0"/>
              </a:spcAft>
              <a:buNone/>
            </a:pPr>
            <a:r>
              <a:t/>
            </a:r>
            <a:endParaRPr sz="1700">
              <a:solidFill>
                <a:srgbClr val="072B4C"/>
              </a:solidFill>
            </a:endParaRPr>
          </a:p>
          <a:p>
            <a:pPr indent="0" lvl="0" marL="0" marR="0" rtl="0" algn="l">
              <a:lnSpc>
                <a:spcPct val="100000"/>
              </a:lnSpc>
              <a:spcBef>
                <a:spcPts val="0"/>
              </a:spcBef>
              <a:spcAft>
                <a:spcPts val="0"/>
              </a:spcAft>
              <a:buNone/>
            </a:pPr>
            <a:r>
              <a:rPr b="1" lang="en-US" sz="1700">
                <a:solidFill>
                  <a:srgbClr val="072B4C"/>
                </a:solidFill>
              </a:rPr>
              <a:t>Naive Model: Positive, VADER: Negative (more accurate)</a:t>
            </a:r>
            <a:endParaRPr b="1" sz="1700">
              <a:solidFill>
                <a:srgbClr val="072B4C"/>
              </a:solidFill>
            </a:endParaRPr>
          </a:p>
          <a:p>
            <a:pPr indent="0" lvl="0" marL="0" marR="0" rtl="0" algn="l">
              <a:lnSpc>
                <a:spcPct val="100000"/>
              </a:lnSpc>
              <a:spcBef>
                <a:spcPts val="0"/>
              </a:spcBef>
              <a:spcAft>
                <a:spcPts val="0"/>
              </a:spcAft>
              <a:buNone/>
            </a:pPr>
            <a:r>
              <a:t/>
            </a:r>
            <a:endParaRPr sz="1700">
              <a:solidFill>
                <a:srgbClr val="072B4C"/>
              </a:solidFill>
            </a:endParaRPr>
          </a:p>
          <a:p>
            <a:pPr indent="-336550" lvl="0" marL="457200" marR="0" rtl="0" algn="l">
              <a:lnSpc>
                <a:spcPct val="100000"/>
              </a:lnSpc>
              <a:spcBef>
                <a:spcPts val="0"/>
              </a:spcBef>
              <a:spcAft>
                <a:spcPts val="0"/>
              </a:spcAft>
              <a:buClr>
                <a:srgbClr val="072B4C"/>
              </a:buClr>
              <a:buSzPts val="1700"/>
              <a:buChar char="●"/>
            </a:pPr>
            <a:r>
              <a:rPr lang="en-US" sz="1700">
                <a:solidFill>
                  <a:srgbClr val="072B4C"/>
                </a:solidFill>
              </a:rPr>
              <a:t>Somehow some way Drexel makes housing even sh**** for upperclassman. my girlfriend just got an email from housing, shes gonna live in caneris, and she's gonna have a freshman stay in her suite in addition to her five other roommates, meaning the suite . for those counting at home she now has 7 people in her room, one of the rooms is a triple. she is kinda pi****.</a:t>
            </a:r>
            <a:br>
              <a:rPr lang="en-US" sz="1700">
                <a:solidFill>
                  <a:srgbClr val="072B4C"/>
                </a:solidFill>
              </a:rPr>
            </a:br>
            <a:endParaRPr sz="1700">
              <a:solidFill>
                <a:srgbClr val="072B4C"/>
              </a:solidFill>
            </a:endParaRPr>
          </a:p>
          <a:p>
            <a:pPr indent="0" lvl="0" marL="0" rtl="0" algn="l">
              <a:spcBef>
                <a:spcPts val="0"/>
              </a:spcBef>
              <a:spcAft>
                <a:spcPts val="0"/>
              </a:spcAft>
              <a:buNone/>
            </a:pPr>
            <a:r>
              <a:rPr b="1" lang="en-US" sz="1700">
                <a:solidFill>
                  <a:srgbClr val="072B4C"/>
                </a:solidFill>
              </a:rPr>
              <a:t>Naive Model: Neutral, VADER: Negative (more accurate)</a:t>
            </a:r>
            <a:endParaRPr b="1" sz="1700">
              <a:solidFill>
                <a:srgbClr val="072B4C"/>
              </a:solidFill>
            </a:endParaRPr>
          </a:p>
          <a:p>
            <a:pPr indent="0" lvl="0" marL="0" rtl="0" algn="l">
              <a:spcBef>
                <a:spcPts val="0"/>
              </a:spcBef>
              <a:spcAft>
                <a:spcPts val="0"/>
              </a:spcAft>
              <a:buNone/>
            </a:pPr>
            <a:r>
              <a:t/>
            </a:r>
            <a:endParaRPr b="1" sz="1700">
              <a:solidFill>
                <a:srgbClr val="072B4C"/>
              </a:solidFill>
            </a:endParaRPr>
          </a:p>
          <a:p>
            <a:pPr indent="-336550" lvl="0" marL="457200" rtl="0" algn="l">
              <a:spcBef>
                <a:spcPts val="0"/>
              </a:spcBef>
              <a:spcAft>
                <a:spcPts val="0"/>
              </a:spcAft>
              <a:buClr>
                <a:srgbClr val="072B4C"/>
              </a:buClr>
              <a:buSzPts val="1700"/>
              <a:buChar char="●"/>
            </a:pPr>
            <a:r>
              <a:rPr lang="en-US" sz="1700">
                <a:solidFill>
                  <a:srgbClr val="072B4C"/>
                </a:solidFill>
              </a:rPr>
              <a:t>The people who hog the Buckley soccer field every evening... I never see them anywhere else... in hallways, on campus, or in class...\n\nI'm not keeping an eye out for them directly but hopefully what I'm saying is understood.\n\nI see them arrive in cars, play, then leave. So they are either commuters (that I somehow don't see anywhere on campus) or not Drexel students (someone lets them in?)\n\nEither way it's kinda annoying when other people want to play soccer or any other sport (they always take up the whole field too)\n\n&lt;/rant&gt;</a:t>
            </a:r>
            <a:endParaRPr sz="1700">
              <a:solidFill>
                <a:srgbClr val="072B4C"/>
              </a:solidFill>
            </a:endParaRPr>
          </a:p>
          <a:p>
            <a:pPr indent="0" lvl="0" marL="0" rtl="0" algn="l">
              <a:spcBef>
                <a:spcPts val="0"/>
              </a:spcBef>
              <a:spcAft>
                <a:spcPts val="0"/>
              </a:spcAft>
              <a:buNone/>
            </a:pPr>
            <a:r>
              <a:t/>
            </a:r>
            <a:endParaRPr sz="1700">
              <a:solidFill>
                <a:srgbClr val="072B4C"/>
              </a:solidFill>
            </a:endParaRPr>
          </a:p>
          <a:p>
            <a:pPr indent="0" lvl="0" marL="0" rtl="0" algn="l">
              <a:spcBef>
                <a:spcPts val="0"/>
              </a:spcBef>
              <a:spcAft>
                <a:spcPts val="0"/>
              </a:spcAft>
              <a:buNone/>
            </a:pPr>
            <a:r>
              <a:rPr b="1" lang="en-US" sz="1700">
                <a:solidFill>
                  <a:srgbClr val="072B4C"/>
                </a:solidFill>
              </a:rPr>
              <a:t>Naive Model: Negative (more accurate), VADER: Positive</a:t>
            </a:r>
            <a:endParaRPr b="1" sz="1700">
              <a:solidFill>
                <a:srgbClr val="072B4C"/>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5"/>
          <p:cNvSpPr txBox="1"/>
          <p:nvPr/>
        </p:nvSpPr>
        <p:spPr>
          <a:xfrm>
            <a:off x="640080" y="384048"/>
            <a:ext cx="109728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00">
                <a:solidFill>
                  <a:srgbClr val="072B4C"/>
                </a:solidFill>
              </a:rPr>
              <a:t>Next Steps and Future Research</a:t>
            </a:r>
            <a:endParaRPr sz="1600"/>
          </a:p>
        </p:txBody>
      </p:sp>
      <p:sp>
        <p:nvSpPr>
          <p:cNvPr id="249" name="Google Shape;249;p25"/>
          <p:cNvSpPr/>
          <p:nvPr/>
        </p:nvSpPr>
        <p:spPr>
          <a:xfrm>
            <a:off x="640080" y="987552"/>
            <a:ext cx="914400" cy="54864"/>
          </a:xfrm>
          <a:prstGeom prst="rect">
            <a:avLst/>
          </a:prstGeom>
          <a:solidFill>
            <a:srgbClr val="FFC6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5"/>
          <p:cNvSpPr txBox="1"/>
          <p:nvPr/>
        </p:nvSpPr>
        <p:spPr>
          <a:xfrm>
            <a:off x="10698480" y="6473952"/>
            <a:ext cx="82296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9</a:t>
            </a:r>
            <a:endParaRPr/>
          </a:p>
        </p:txBody>
      </p:sp>
      <p:sp>
        <p:nvSpPr>
          <p:cNvPr id="251" name="Google Shape;251;p25"/>
          <p:cNvSpPr txBox="1"/>
          <p:nvPr/>
        </p:nvSpPr>
        <p:spPr>
          <a:xfrm>
            <a:off x="640075" y="1107125"/>
            <a:ext cx="10424100" cy="602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222A31"/>
                </a:solidFill>
              </a:rPr>
              <a:t>• Compare sentiment across all 7 LDA topics to identify where student experiences are most positive or negative</a:t>
            </a:r>
            <a:br>
              <a:rPr lang="en-US" sz="2200">
                <a:solidFill>
                  <a:srgbClr val="222A31"/>
                </a:solidFill>
              </a:rPr>
            </a:br>
            <a:endParaRPr sz="2200">
              <a:solidFill>
                <a:srgbClr val="222A31"/>
              </a:solidFill>
            </a:endParaRPr>
          </a:p>
          <a:p>
            <a:pPr indent="0" lvl="0" marL="0" rtl="0" algn="l">
              <a:lnSpc>
                <a:spcPct val="115000"/>
              </a:lnSpc>
              <a:spcBef>
                <a:spcPts val="0"/>
              </a:spcBef>
              <a:spcAft>
                <a:spcPts val="0"/>
              </a:spcAft>
              <a:buClr>
                <a:schemeClr val="dk1"/>
              </a:buClr>
              <a:buSzPts val="1100"/>
              <a:buFont typeface="Arial"/>
              <a:buNone/>
            </a:pPr>
            <a:r>
              <a:rPr lang="en-US" sz="2200">
                <a:solidFill>
                  <a:srgbClr val="222A31"/>
                </a:solidFill>
              </a:rPr>
              <a:t>• Validate a sample of posts by hand to measure VADER accuracy, especially for sarcasm, slang, and mixed tone</a:t>
            </a:r>
            <a:br>
              <a:rPr lang="en-US" sz="2200">
                <a:solidFill>
                  <a:srgbClr val="222A31"/>
                </a:solidFill>
              </a:rPr>
            </a:br>
            <a:endParaRPr sz="2200">
              <a:solidFill>
                <a:srgbClr val="222A31"/>
              </a:solidFill>
            </a:endParaRPr>
          </a:p>
          <a:p>
            <a:pPr indent="0" lvl="0" marL="0" rtl="0" algn="l">
              <a:lnSpc>
                <a:spcPct val="115000"/>
              </a:lnSpc>
              <a:spcBef>
                <a:spcPts val="0"/>
              </a:spcBef>
              <a:spcAft>
                <a:spcPts val="0"/>
              </a:spcAft>
              <a:buSzPts val="1100"/>
              <a:buNone/>
            </a:pPr>
            <a:r>
              <a:rPr lang="en-US" sz="2200">
                <a:solidFill>
                  <a:srgbClr val="222A31"/>
                </a:solidFill>
              </a:rPr>
              <a:t>• Track topic and sentiment changes over time to connect shifts with academic, co-op, and housing cycles</a:t>
            </a:r>
            <a:endParaRPr sz="2200">
              <a:solidFill>
                <a:srgbClr val="222A31"/>
              </a:solidFill>
            </a:endParaRPr>
          </a:p>
          <a:p>
            <a:pPr indent="0" lvl="0" marL="0" rtl="0" algn="l">
              <a:lnSpc>
                <a:spcPct val="115000"/>
              </a:lnSpc>
              <a:spcBef>
                <a:spcPts val="0"/>
              </a:spcBef>
              <a:spcAft>
                <a:spcPts val="0"/>
              </a:spcAft>
              <a:buClr>
                <a:schemeClr val="dk1"/>
              </a:buClr>
              <a:buSzPts val="1100"/>
              <a:buFont typeface="Arial"/>
              <a:buNone/>
            </a:pPr>
            <a:r>
              <a:t/>
            </a:r>
            <a:endParaRPr sz="2200">
              <a:solidFill>
                <a:srgbClr val="222A31"/>
              </a:solidFill>
            </a:endParaRPr>
          </a:p>
          <a:p>
            <a:pPr indent="0" lvl="0" marL="0" rtl="0" algn="l">
              <a:lnSpc>
                <a:spcPct val="115000"/>
              </a:lnSpc>
              <a:spcBef>
                <a:spcPts val="0"/>
              </a:spcBef>
              <a:spcAft>
                <a:spcPts val="0"/>
              </a:spcAft>
              <a:buClr>
                <a:schemeClr val="dk1"/>
              </a:buClr>
              <a:buSzPts val="1100"/>
              <a:buFont typeface="Arial"/>
              <a:buNone/>
            </a:pPr>
            <a:r>
              <a:rPr lang="en-US" sz="2200">
                <a:solidFill>
                  <a:srgbClr val="222A31"/>
                </a:solidFill>
              </a:rPr>
              <a:t>• Use a stronger context-aware sentiment model as a comparison to VADER and report where the models disagree</a:t>
            </a:r>
            <a:br>
              <a:rPr lang="en-US" sz="2200">
                <a:solidFill>
                  <a:srgbClr val="222A31"/>
                </a:solidFill>
              </a:rPr>
            </a:br>
            <a:endParaRPr sz="2200">
              <a:solidFill>
                <a:srgbClr val="222A31"/>
              </a:solidFill>
            </a:endParaRPr>
          </a:p>
          <a:p>
            <a:pPr indent="0" lvl="0" marL="0" rtl="0" algn="l">
              <a:lnSpc>
                <a:spcPct val="115000"/>
              </a:lnSpc>
              <a:spcBef>
                <a:spcPts val="0"/>
              </a:spcBef>
              <a:spcAft>
                <a:spcPts val="0"/>
              </a:spcAft>
              <a:buClr>
                <a:schemeClr val="dk1"/>
              </a:buClr>
              <a:buSzPts val="1100"/>
              <a:buFont typeface="Arial"/>
              <a:buNone/>
            </a:pPr>
            <a:r>
              <a:rPr lang="en-US" sz="2200">
                <a:solidFill>
                  <a:srgbClr val="222A31"/>
                </a:solidFill>
              </a:rPr>
              <a:t>• Translate recurring negative themes into specific areas Drexel can investigate through more targeted surveys or student outreach</a:t>
            </a:r>
            <a:endParaRPr sz="2200">
              <a:solidFill>
                <a:srgbClr val="222A31"/>
              </a:solidFill>
            </a:endParaRPr>
          </a:p>
          <a:p>
            <a:pPr indent="0" lvl="0" marL="0" marR="0" rtl="0" algn="l">
              <a:lnSpc>
                <a:spcPct val="105000"/>
              </a:lnSpc>
              <a:spcBef>
                <a:spcPts val="1100"/>
              </a:spcBef>
              <a:spcAft>
                <a:spcPts val="0"/>
              </a:spcAft>
              <a:buNone/>
            </a:pPr>
            <a:r>
              <a:t/>
            </a:r>
            <a:endParaRPr sz="2200">
              <a:solidFill>
                <a:srgbClr val="222A3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p:nvPr/>
        </p:nvSpPr>
        <p:spPr>
          <a:xfrm>
            <a:off x="0" y="150400"/>
            <a:ext cx="12191700" cy="6858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6"/>
          <p:cNvSpPr txBox="1"/>
          <p:nvPr/>
        </p:nvSpPr>
        <p:spPr>
          <a:xfrm>
            <a:off x="640080" y="384048"/>
            <a:ext cx="109728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900" u="none" cap="none" strike="noStrike">
                <a:solidFill>
                  <a:srgbClr val="072B4C"/>
                </a:solidFill>
              </a:rPr>
              <a:t>Key Takeaways</a:t>
            </a:r>
            <a:endParaRPr sz="1600"/>
          </a:p>
        </p:txBody>
      </p:sp>
      <p:sp>
        <p:nvSpPr>
          <p:cNvPr id="258" name="Google Shape;258;p26"/>
          <p:cNvSpPr/>
          <p:nvPr/>
        </p:nvSpPr>
        <p:spPr>
          <a:xfrm>
            <a:off x="640080" y="987552"/>
            <a:ext cx="914400" cy="54900"/>
          </a:xfrm>
          <a:prstGeom prst="rect">
            <a:avLst/>
          </a:prstGeom>
          <a:solidFill>
            <a:srgbClr val="FFC6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6"/>
          <p:cNvSpPr txBox="1"/>
          <p:nvPr/>
        </p:nvSpPr>
        <p:spPr>
          <a:xfrm>
            <a:off x="10698480" y="6473952"/>
            <a:ext cx="8229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88929A"/>
                </a:solidFill>
                <a:latin typeface="Arial"/>
                <a:ea typeface="Arial"/>
                <a:cs typeface="Arial"/>
                <a:sym typeface="Arial"/>
              </a:rPr>
              <a:t>9</a:t>
            </a:r>
            <a:endParaRPr/>
          </a:p>
        </p:txBody>
      </p:sp>
      <p:sp>
        <p:nvSpPr>
          <p:cNvPr id="260" name="Google Shape;260;p26"/>
          <p:cNvSpPr txBox="1"/>
          <p:nvPr/>
        </p:nvSpPr>
        <p:spPr>
          <a:xfrm>
            <a:off x="640075" y="1042450"/>
            <a:ext cx="10972800" cy="5234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1900">
                <a:solidFill>
                  <a:srgbClr val="222A31"/>
                </a:solidFill>
              </a:rPr>
              <a:t>• r/Drexel provides a large, candid source of student discussion that complements traditional feedback methods</a:t>
            </a:r>
            <a:br>
              <a:rPr lang="en-US" sz="1900">
                <a:solidFill>
                  <a:srgbClr val="222A31"/>
                </a:solidFill>
              </a:rPr>
            </a:br>
            <a:endParaRPr sz="1900">
              <a:solidFill>
                <a:srgbClr val="222A31"/>
              </a:solidFill>
            </a:endParaRPr>
          </a:p>
          <a:p>
            <a:pPr indent="0" lvl="0" marL="0" rtl="0" algn="l">
              <a:lnSpc>
                <a:spcPct val="115000"/>
              </a:lnSpc>
              <a:spcBef>
                <a:spcPts val="0"/>
              </a:spcBef>
              <a:spcAft>
                <a:spcPts val="0"/>
              </a:spcAft>
              <a:buClr>
                <a:schemeClr val="dk1"/>
              </a:buClr>
              <a:buSzPts val="1100"/>
              <a:buFont typeface="Arial"/>
              <a:buNone/>
            </a:pPr>
            <a:r>
              <a:rPr lang="en-US" sz="1900">
                <a:solidFill>
                  <a:srgbClr val="222A31"/>
                </a:solidFill>
              </a:rPr>
              <a:t>• Co-op, academics, housing, and campus life are recurring concerns that can be organized into clear themes with LDA</a:t>
            </a:r>
            <a:br>
              <a:rPr lang="en-US" sz="1900">
                <a:solidFill>
                  <a:srgbClr val="222A31"/>
                </a:solidFill>
              </a:rPr>
            </a:br>
            <a:endParaRPr sz="1900">
              <a:solidFill>
                <a:srgbClr val="222A31"/>
              </a:solidFill>
            </a:endParaRPr>
          </a:p>
          <a:p>
            <a:pPr indent="0" lvl="0" marL="0" rtl="0" algn="l">
              <a:lnSpc>
                <a:spcPct val="115000"/>
              </a:lnSpc>
              <a:spcBef>
                <a:spcPts val="0"/>
              </a:spcBef>
              <a:spcAft>
                <a:spcPts val="0"/>
              </a:spcAft>
              <a:buClr>
                <a:schemeClr val="dk1"/>
              </a:buClr>
              <a:buSzPts val="1100"/>
              <a:buFont typeface="Arial"/>
              <a:buNone/>
            </a:pPr>
            <a:r>
              <a:rPr lang="en-US" sz="1900">
                <a:solidFill>
                  <a:srgbClr val="222A31"/>
                </a:solidFill>
              </a:rPr>
              <a:t>• VADER captures more sentiment than the naive word-count approach, but sarcasm and informal language still create errors</a:t>
            </a:r>
            <a:br>
              <a:rPr lang="en-US" sz="1900">
                <a:solidFill>
                  <a:srgbClr val="222A31"/>
                </a:solidFill>
              </a:rPr>
            </a:br>
            <a:endParaRPr sz="1900">
              <a:solidFill>
                <a:srgbClr val="222A31"/>
              </a:solidFill>
            </a:endParaRPr>
          </a:p>
          <a:p>
            <a:pPr indent="0" lvl="0" marL="0" rtl="0" algn="l">
              <a:lnSpc>
                <a:spcPct val="115000"/>
              </a:lnSpc>
              <a:spcBef>
                <a:spcPts val="0"/>
              </a:spcBef>
              <a:spcAft>
                <a:spcPts val="0"/>
              </a:spcAft>
              <a:buSzPts val="1100"/>
              <a:buNone/>
            </a:pPr>
            <a:r>
              <a:rPr lang="en-US" sz="1900">
                <a:solidFill>
                  <a:srgbClr val="222A31"/>
                </a:solidFill>
              </a:rPr>
              <a:t>• Combining Topic × Sentiment is the strongest next analysis because it shows not only what students discuss, but how they feel about each issue</a:t>
            </a:r>
            <a:endParaRPr sz="1900">
              <a:solidFill>
                <a:srgbClr val="222A31"/>
              </a:solidFill>
            </a:endParaRPr>
          </a:p>
          <a:p>
            <a:pPr indent="0" lvl="0" marL="0" rtl="0" algn="l">
              <a:lnSpc>
                <a:spcPct val="115000"/>
              </a:lnSpc>
              <a:spcBef>
                <a:spcPts val="0"/>
              </a:spcBef>
              <a:spcAft>
                <a:spcPts val="0"/>
              </a:spcAft>
              <a:buClr>
                <a:schemeClr val="dk1"/>
              </a:buClr>
              <a:buSzPts val="1100"/>
              <a:buFont typeface="Arial"/>
              <a:buNone/>
            </a:pPr>
            <a:r>
              <a:t/>
            </a:r>
            <a:endParaRPr sz="1900">
              <a:solidFill>
                <a:srgbClr val="222A31"/>
              </a:solidFill>
            </a:endParaRPr>
          </a:p>
          <a:p>
            <a:pPr indent="0" lvl="0" marL="0" rtl="0" algn="l">
              <a:lnSpc>
                <a:spcPct val="115000"/>
              </a:lnSpc>
              <a:spcBef>
                <a:spcPts val="0"/>
              </a:spcBef>
              <a:spcAft>
                <a:spcPts val="0"/>
              </a:spcAft>
              <a:buSzPts val="1100"/>
              <a:buNone/>
            </a:pPr>
            <a:r>
              <a:rPr lang="en-US" sz="1900">
                <a:solidFill>
                  <a:srgbClr val="222A31"/>
                </a:solidFill>
              </a:rPr>
              <a:t>• With validation and time-based analysis, these findings can better support administrators, current students, and prospective students</a:t>
            </a:r>
            <a:endParaRPr sz="1900">
              <a:solidFill>
                <a:srgbClr val="222A31"/>
              </a:solidFill>
            </a:endParaRPr>
          </a:p>
          <a:p>
            <a:pPr indent="0" lvl="0" marL="0" marR="0" rtl="0" algn="l">
              <a:lnSpc>
                <a:spcPct val="105000"/>
              </a:lnSpc>
              <a:spcBef>
                <a:spcPts val="1100"/>
              </a:spcBef>
              <a:spcAft>
                <a:spcPts val="0"/>
              </a:spcAft>
              <a:buNone/>
            </a:pPr>
            <a:r>
              <a:t/>
            </a:r>
            <a:endParaRPr sz="1900">
              <a:solidFill>
                <a:srgbClr val="222A31"/>
              </a:solidFill>
            </a:endParaRPr>
          </a:p>
        </p:txBody>
      </p:sp>
      <p:sp>
        <p:nvSpPr>
          <p:cNvPr id="261" name="Google Shape;261;p26"/>
          <p:cNvSpPr/>
          <p:nvPr/>
        </p:nvSpPr>
        <p:spPr>
          <a:xfrm>
            <a:off x="1386738" y="5943590"/>
            <a:ext cx="9418200" cy="914400"/>
          </a:xfrm>
          <a:prstGeom prst="roundRect">
            <a:avLst>
              <a:gd fmla="val 16667" name="adj"/>
            </a:avLst>
          </a:prstGeom>
          <a:solidFill>
            <a:srgbClr val="072B4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6"/>
          <p:cNvSpPr txBox="1"/>
          <p:nvPr/>
        </p:nvSpPr>
        <p:spPr>
          <a:xfrm>
            <a:off x="1569588" y="5984349"/>
            <a:ext cx="9052500" cy="1209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US" sz="2200">
                <a:solidFill>
                  <a:srgbClr val="FFFFFF"/>
                </a:solidFill>
                <a:latin typeface="Play"/>
                <a:ea typeface="Play"/>
                <a:cs typeface="Play"/>
                <a:sym typeface="Play"/>
              </a:rPr>
              <a:t>Final takeaway: Topic + sentiment can turn unstructured Reddit posts into useful signals for decision-making</a:t>
            </a:r>
            <a:endParaRPr b="1" sz="2200">
              <a:solidFill>
                <a:srgbClr val="FFFFFF"/>
              </a:solidFill>
              <a:latin typeface="Play"/>
              <a:ea typeface="Play"/>
              <a:cs typeface="Play"/>
              <a:sym typeface="Play"/>
            </a:endParaRPr>
          </a:p>
          <a:p>
            <a:pPr indent="0" lvl="0" marL="0" marR="0" rtl="0" algn="ctr">
              <a:spcBef>
                <a:spcPts val="0"/>
              </a:spcBef>
              <a:spcAft>
                <a:spcPts val="0"/>
              </a:spcAft>
              <a:buNone/>
            </a:pPr>
            <a:r>
              <a:t/>
            </a:r>
            <a:endParaRPr b="1" sz="2200">
              <a:solidFill>
                <a:srgbClr val="FFFFFF"/>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